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08" r:id="rId5"/>
    <p:sldMasterId id="2147483719" r:id="rId6"/>
    <p:sldMasterId id="2147483726" r:id="rId7"/>
    <p:sldMasterId id="2147483740" r:id="rId8"/>
  </p:sldMasterIdLst>
  <p:notesMasterIdLst>
    <p:notesMasterId r:id="rId40"/>
  </p:notesMasterIdLst>
  <p:sldIdLst>
    <p:sldId id="4605" r:id="rId9"/>
    <p:sldId id="4606" r:id="rId10"/>
    <p:sldId id="4602" r:id="rId11"/>
    <p:sldId id="4598" r:id="rId12"/>
    <p:sldId id="4603" r:id="rId13"/>
    <p:sldId id="4591" r:id="rId14"/>
    <p:sldId id="4609" r:id="rId15"/>
    <p:sldId id="4620" r:id="rId16"/>
    <p:sldId id="4627" r:id="rId17"/>
    <p:sldId id="4616" r:id="rId18"/>
    <p:sldId id="4607" r:id="rId19"/>
    <p:sldId id="4610" r:id="rId20"/>
    <p:sldId id="4618" r:id="rId21"/>
    <p:sldId id="4608" r:id="rId22"/>
    <p:sldId id="4611" r:id="rId23"/>
    <p:sldId id="4619" r:id="rId24"/>
    <p:sldId id="4617" r:id="rId25"/>
    <p:sldId id="4593" r:id="rId26"/>
    <p:sldId id="4612" r:id="rId27"/>
    <p:sldId id="4615" r:id="rId28"/>
    <p:sldId id="4614" r:id="rId29"/>
    <p:sldId id="4604" r:id="rId30"/>
    <p:sldId id="4600" r:id="rId31"/>
    <p:sldId id="4594" r:id="rId32"/>
    <p:sldId id="4596" r:id="rId33"/>
    <p:sldId id="4621" r:id="rId34"/>
    <p:sldId id="4622" r:id="rId35"/>
    <p:sldId id="4625" r:id="rId36"/>
    <p:sldId id="4626" r:id="rId37"/>
    <p:sldId id="4623" r:id="rId38"/>
    <p:sldId id="4624" r:id="rId39"/>
  </p:sldIdLst>
  <p:sldSz cx="12192000" cy="6858000"/>
  <p:notesSz cx="7023100" cy="9309100"/>
  <p:custDataLst>
    <p:tags r:id="rId4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pos="3840" userDrawn="1">
          <p15:clr>
            <a:srgbClr val="A4A3A4"/>
          </p15:clr>
        </p15:guide>
        <p15:guide id="7" orient="horz" pos="6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000"/>
    <a:srgbClr val="FFC49F"/>
    <a:srgbClr val="FF9757"/>
    <a:srgbClr val="FF9553"/>
    <a:srgbClr val="FFB689"/>
    <a:srgbClr val="FFD6BD"/>
    <a:srgbClr val="FF7B29"/>
    <a:srgbClr val="4C0076"/>
    <a:srgbClr val="63009A"/>
    <a:srgbClr val="A1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44" y="176"/>
      </p:cViewPr>
      <p:guideLst>
        <p:guide pos="3840"/>
        <p:guide orient="horz" pos="6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12" tIns="46656" rIns="93312" bIns="4665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12" tIns="46656" rIns="93312" bIns="46656" rtlCol="0"/>
          <a:lstStyle>
            <a:lvl1pPr algn="r">
              <a:defRPr sz="1200"/>
            </a:lvl1pPr>
          </a:lstStyle>
          <a:p>
            <a:fld id="{856DF56F-8F44-498B-8B7B-5C99A81685F0}" type="datetimeFigureOut">
              <a:rPr lang="en-US" smtClean="0"/>
              <a:t>5/28/2019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12" tIns="46656" rIns="93312" bIns="4665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12" tIns="46656" rIns="93312" bIns="46656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1"/>
            <a:ext cx="3043343" cy="467071"/>
          </a:xfrm>
          <a:prstGeom prst="rect">
            <a:avLst/>
          </a:prstGeom>
        </p:spPr>
        <p:txBody>
          <a:bodyPr vert="horz" lIns="93312" tIns="46656" rIns="93312" bIns="4665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1"/>
            <a:ext cx="3043343" cy="467071"/>
          </a:xfrm>
          <a:prstGeom prst="rect">
            <a:avLst/>
          </a:prstGeom>
        </p:spPr>
        <p:txBody>
          <a:bodyPr vert="horz" lIns="93312" tIns="46656" rIns="93312" bIns="46656" rtlCol="0" anchor="b"/>
          <a:lstStyle>
            <a:lvl1pPr algn="r">
              <a:defRPr sz="1200"/>
            </a:lvl1pPr>
          </a:lstStyle>
          <a:p>
            <a:fld id="{0297B257-631A-45E2-97E3-0257694B4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4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copy/paste the Discover logo from the Cover layout master slide (see: View &gt; Slide Master).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DBF1AE-BC36-1841-87CD-1AC6848333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78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Placeholder: Introduction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DBF1AE-BC36-1841-87CD-1AC6848333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32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97B257-631A-45E2-97E3-0257694B417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24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98568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4081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284723"/>
            <a:ext cx="5715000" cy="1086879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1600" b="1" cap="all" baseline="0"/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0" cap="all" baseline="0"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lvl="0"/>
            <a:r>
              <a:rPr lang="en-US"/>
              <a:t>First subtitle</a:t>
            </a:r>
          </a:p>
          <a:p>
            <a:pPr lvl="1"/>
            <a:r>
              <a:rPr lang="en-US"/>
              <a:t>Second SUBTITLE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1" y="380999"/>
            <a:ext cx="5715001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3925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s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284723"/>
            <a:ext cx="5715000" cy="1086879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1600" b="1" cap="all" baseline="0"/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0" cap="all" baseline="0"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lvl="0"/>
            <a:r>
              <a:rPr lang="en-US"/>
              <a:t>First subtitle</a:t>
            </a:r>
          </a:p>
          <a:p>
            <a:pPr lvl="1"/>
            <a:r>
              <a:rPr lang="en-US"/>
              <a:t>Second SUBTITLE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1" y="380999"/>
            <a:ext cx="5715001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57150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11"/>
          <p:cNvSpPr>
            <a:spLocks noGrp="1"/>
          </p:cNvSpPr>
          <p:nvPr>
            <p:ph sz="quarter" idx="19"/>
          </p:nvPr>
        </p:nvSpPr>
        <p:spPr>
          <a:xfrm>
            <a:off x="6103621" y="1828804"/>
            <a:ext cx="57150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3515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8E7D85B1-BCB4-4D78-A56E-B33DC842710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2" y="6519009"/>
            <a:ext cx="5714999" cy="20637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xmlns="" id="{18EC24C6-7206-43B3-BA99-A985CAD8E54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506202" y="6519009"/>
            <a:ext cx="304799" cy="206375"/>
          </a:xfrm>
        </p:spPr>
        <p:txBody>
          <a:bodyPr/>
          <a:lstStyle/>
          <a:p>
            <a:fld id="{17D800ED-CB1B-4EBC-A0D2-2190AF4D887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807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s Only: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C3EE16C-BB8D-4A88-9F11-16F096514C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2" y="6519009"/>
            <a:ext cx="5714999" cy="206375"/>
          </a:xfr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1EE5D53-324F-4575-8D27-3D2B26D9D3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506202" y="6519009"/>
            <a:ext cx="304799" cy="206375"/>
          </a:xfrm>
        </p:spPr>
        <p:txBody>
          <a:bodyPr/>
          <a:lstStyle/>
          <a:p>
            <a:fld id="{17D800ED-CB1B-4EBC-A0D2-2190AF4D887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310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s Only: Dark">
    <p:bg>
      <p:bgPr>
        <a:gradFill>
          <a:gsLst>
            <a:gs pos="0">
              <a:srgbClr val="000088"/>
            </a:gs>
            <a:gs pos="93000">
              <a:schemeClr val="accent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81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019" y="1803400"/>
            <a:ext cx="5589056" cy="4254500"/>
          </a:xfrm>
        </p:spPr>
        <p:txBody>
          <a:bodyPr/>
          <a:lstStyle>
            <a:lvl1pPr>
              <a:lnSpc>
                <a:spcPct val="80000"/>
              </a:lnSpc>
              <a:defRPr sz="5067" cap="all" baseline="0"/>
            </a:lvl1pPr>
          </a:lstStyle>
          <a:p>
            <a:r>
              <a:rPr lang="en-US"/>
              <a:t>SECTION INTRO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276975" y="1763713"/>
            <a:ext cx="5578475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7D800ED-CB1B-4EBC-A0D2-2190AF4D887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123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17A467C-956C-4147-8259-5E18D24791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895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C89FB70-A2E5-7D4D-B6DA-7D5724368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5039519"/>
            <a:ext cx="12192000" cy="1828800"/>
          </a:xfrm>
          <a:solidFill>
            <a:srgbClr val="FF6000"/>
          </a:solidFill>
        </p:spPr>
        <p:txBody>
          <a:bodyPr lIns="457200" tIns="228600" rIns="457200" bIns="228600" anchor="ctr"/>
          <a:lstStyle>
            <a:lvl1pPr marL="0" indent="0" algn="ctr">
              <a:spcBef>
                <a:spcPts val="1600"/>
              </a:spcBef>
              <a:buNone/>
              <a:defRPr b="0" i="0">
                <a:solidFill>
                  <a:schemeClr val="bg1"/>
                </a:solidFill>
                <a:latin typeface="Meta Offc Pro Normal" panose="020B0504030101020102" pitchFamily="34" charset="0"/>
              </a:defRPr>
            </a:lvl1pPr>
          </a:lstStyle>
          <a:p>
            <a:pPr>
              <a:lnSpc>
                <a:spcPts val="3200"/>
              </a:lnSpc>
            </a:pPr>
            <a:r>
              <a:rPr lang="en-US"/>
              <a:t>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1E566A9-6606-1446-BBFF-7E4CB259492A}"/>
              </a:ext>
            </a:extLst>
          </p:cNvPr>
          <p:cNvSpPr/>
          <p:nvPr userDrawn="1"/>
        </p:nvSpPr>
        <p:spPr>
          <a:xfrm>
            <a:off x="0" y="-20638"/>
            <a:ext cx="12192000" cy="5049838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C00000">
                  <a:alpha val="1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A8FE861-0789-7849-B600-5E771F25E0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59728" y="3170867"/>
            <a:ext cx="547254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08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85800"/>
            <a:ext cx="11277600" cy="914400"/>
          </a:xfrm>
        </p:spPr>
        <p:txBody>
          <a:bodyPr lIns="0" tIns="0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/>
            </a:lvl1pPr>
          </a:lstStyle>
          <a:p>
            <a:pPr lvl="0"/>
            <a:r>
              <a:rPr lang="en-US"/>
              <a:t>AGENDA/CONTENTS</a:t>
            </a:r>
          </a:p>
        </p:txBody>
      </p:sp>
    </p:spTree>
    <p:extLst>
      <p:ext uri="{BB962C8B-B14F-4D97-AF65-F5344CB8AC3E}">
        <p14:creationId xmlns:p14="http://schemas.microsoft.com/office/powerpoint/2010/main" val="2920480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FFF8313-7090-854A-AAD4-179AABD4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11277600" cy="549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969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0270D696-FC9D-764C-86AD-876ACA178F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828801"/>
            <a:ext cx="112776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685800"/>
            <a:ext cx="11277600" cy="914400"/>
          </a:xfrm>
        </p:spPr>
        <p:txBody>
          <a:bodyPr lIns="0" tIns="0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482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0270D696-FC9D-764C-86AD-876ACA178F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828801"/>
            <a:ext cx="55245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685800"/>
            <a:ext cx="11277600" cy="914400"/>
          </a:xfrm>
        </p:spPr>
        <p:txBody>
          <a:bodyPr lIns="0" tIns="0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xmlns="" id="{EDD2E80A-661E-D848-9AB9-84DA8FB0AB6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10300" y="1828801"/>
            <a:ext cx="55245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9987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E3AB51B-3A49-A342-BE3F-5E2BD46BA0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xmlns="" id="{DE998DCD-F704-474D-A6DF-49315EE940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514596"/>
            <a:ext cx="11277600" cy="914400"/>
          </a:xfrm>
        </p:spPr>
        <p:txBody>
          <a:bodyPr>
            <a:noAutofit/>
          </a:bodyPr>
          <a:lstStyle>
            <a:lvl1pPr marL="0" indent="0" algn="ctr">
              <a:buNone/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xmlns="" id="{B5343CFF-100F-4346-BF6E-E7A5F827C7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343399"/>
            <a:ext cx="11277600" cy="914400"/>
          </a:xfrm>
        </p:spPr>
        <p:txBody>
          <a:bodyPr>
            <a:no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075934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ntent with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0270D696-FC9D-764C-86AD-876ACA178F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445478"/>
            <a:ext cx="3879632" cy="5735866"/>
          </a:xfrm>
          <a:prstGeom prst="rect">
            <a:avLst/>
          </a:prstGeom>
          <a:solidFill>
            <a:srgbClr val="5A5199"/>
          </a:solidFill>
        </p:spPr>
        <p:txBody>
          <a:bodyPr vert="horz" lIns="118872" tIns="118872" rIns="118872" bIns="118872" rtlCol="0">
            <a:normAutofit/>
          </a:bodyPr>
          <a:lstStyle>
            <a:lvl2pPr>
              <a:buClr>
                <a:srgbClr val="474747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474747"/>
              </a:buClr>
              <a:defRPr>
                <a:solidFill>
                  <a:schemeClr val="bg1"/>
                </a:solidFill>
              </a:defRPr>
            </a:lvl3pPr>
            <a:lvl4pPr>
              <a:buClr>
                <a:srgbClr val="474747"/>
              </a:buClr>
              <a:defRPr>
                <a:solidFill>
                  <a:schemeClr val="bg1"/>
                </a:solidFill>
              </a:defRPr>
            </a:lvl4pPr>
            <a:lvl5pPr>
              <a:buClr>
                <a:srgbClr val="474747"/>
              </a:buClr>
              <a:defRPr>
                <a:solidFill>
                  <a:schemeClr val="bg1"/>
                </a:solidFill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6250" y="685800"/>
            <a:ext cx="7448550" cy="914400"/>
          </a:xfrm>
        </p:spPr>
        <p:txBody>
          <a:bodyPr lIns="0" tIns="118872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51ECD88C-3E6E-8245-96E0-8620BF080D4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86250" y="1828801"/>
            <a:ext cx="744855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buClr>
                <a:srgbClr val="5A5199"/>
              </a:buClr>
              <a:defRPr/>
            </a:lvl2pPr>
            <a:lvl3pPr>
              <a:buClr>
                <a:srgbClr val="5A5199"/>
              </a:buClr>
              <a:defRPr/>
            </a:lvl3pPr>
            <a:lvl4pPr>
              <a:buClr>
                <a:srgbClr val="5A5199"/>
              </a:buClr>
              <a:defRPr/>
            </a:lvl4pPr>
            <a:lvl5pPr>
              <a:buClr>
                <a:srgbClr val="5A5199"/>
              </a:buClr>
              <a:defRPr/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2265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orient="horz" pos="388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Content with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0270D696-FC9D-764C-86AD-876ACA178F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445478"/>
            <a:ext cx="3879632" cy="5735866"/>
          </a:xfrm>
          <a:prstGeom prst="rect">
            <a:avLst/>
          </a:prstGeom>
          <a:solidFill>
            <a:srgbClr val="5A5199"/>
          </a:solidFill>
        </p:spPr>
        <p:txBody>
          <a:bodyPr vert="horz" lIns="118872" tIns="118872" rIns="118872" bIns="118872" rtlCol="0">
            <a:normAutofit/>
          </a:bodyPr>
          <a:lstStyle>
            <a:lvl2pPr>
              <a:buClr>
                <a:srgbClr val="474747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474747"/>
              </a:buClr>
              <a:defRPr>
                <a:solidFill>
                  <a:schemeClr val="bg1"/>
                </a:solidFill>
              </a:defRPr>
            </a:lvl3pPr>
            <a:lvl4pPr>
              <a:buClr>
                <a:srgbClr val="474747"/>
              </a:buClr>
              <a:defRPr>
                <a:solidFill>
                  <a:schemeClr val="bg1"/>
                </a:solidFill>
              </a:defRPr>
            </a:lvl4pPr>
            <a:lvl5pPr>
              <a:buClr>
                <a:srgbClr val="474747"/>
              </a:buClr>
              <a:defRPr>
                <a:solidFill>
                  <a:schemeClr val="bg1"/>
                </a:solidFill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6250" y="685800"/>
            <a:ext cx="7448550" cy="914400"/>
          </a:xfrm>
        </p:spPr>
        <p:txBody>
          <a:bodyPr lIns="0" tIns="118872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8EC4BF62-4A95-794A-87D2-275E64C118D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115300" y="1819658"/>
            <a:ext cx="36195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buClr>
                <a:srgbClr val="5A5199"/>
              </a:buClr>
              <a:defRPr/>
            </a:lvl2pPr>
            <a:lvl3pPr>
              <a:buClr>
                <a:srgbClr val="5A5199"/>
              </a:buClr>
              <a:defRPr/>
            </a:lvl3pPr>
            <a:lvl4pPr>
              <a:buClr>
                <a:srgbClr val="5A5199"/>
              </a:buClr>
              <a:defRPr/>
            </a:lvl4pPr>
            <a:lvl5pPr>
              <a:buClr>
                <a:srgbClr val="5A5199"/>
              </a:buClr>
              <a:defRPr/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A53C1B6B-6651-DB40-86AB-CD3CEC2ABC7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86250" y="1828801"/>
            <a:ext cx="36195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buClr>
                <a:srgbClr val="5A5199"/>
              </a:buClr>
              <a:defRPr/>
            </a:lvl2pPr>
            <a:lvl3pPr>
              <a:buClr>
                <a:srgbClr val="5A5199"/>
              </a:buClr>
              <a:defRPr/>
            </a:lvl3pPr>
            <a:lvl4pPr>
              <a:buClr>
                <a:srgbClr val="5A5199"/>
              </a:buClr>
              <a:defRPr/>
            </a:lvl4pPr>
            <a:lvl5pPr>
              <a:buClr>
                <a:srgbClr val="5A5199"/>
              </a:buClr>
              <a:defRPr/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0643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orient="horz" pos="388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ntent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6250" y="685800"/>
            <a:ext cx="7448550" cy="914400"/>
          </a:xfrm>
        </p:spPr>
        <p:txBody>
          <a:bodyPr lIns="0" tIns="118872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8EC4BF62-4A95-794A-87D2-275E64C118D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115300" y="1819658"/>
            <a:ext cx="36195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buClr>
                <a:srgbClr val="5A5199"/>
              </a:buClr>
              <a:defRPr/>
            </a:lvl2pPr>
            <a:lvl3pPr>
              <a:buClr>
                <a:srgbClr val="5A5199"/>
              </a:buClr>
              <a:defRPr/>
            </a:lvl3pPr>
            <a:lvl4pPr>
              <a:buClr>
                <a:srgbClr val="5A5199"/>
              </a:buClr>
              <a:defRPr/>
            </a:lvl4pPr>
            <a:lvl5pPr>
              <a:buClr>
                <a:srgbClr val="5A5199"/>
              </a:buClr>
              <a:defRPr/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A53C1B6B-6651-DB40-86AB-CD3CEC2ABC7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86250" y="1828801"/>
            <a:ext cx="36195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buClr>
                <a:srgbClr val="5A5199"/>
              </a:buClr>
              <a:defRPr/>
            </a:lvl2pPr>
            <a:lvl3pPr>
              <a:buClr>
                <a:srgbClr val="5A5199"/>
              </a:buClr>
              <a:defRPr/>
            </a:lvl3pPr>
            <a:lvl4pPr>
              <a:buClr>
                <a:srgbClr val="5A5199"/>
              </a:buClr>
              <a:defRPr/>
            </a:lvl4pPr>
            <a:lvl5pPr>
              <a:buClr>
                <a:srgbClr val="5A5199"/>
              </a:buClr>
              <a:defRPr/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A89BD93F-BC08-7643-83DA-D8E822100183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448055"/>
          <a:ext cx="3877056" cy="57332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9838">
                  <a:extLst>
                    <a:ext uri="{9D8B030D-6E8A-4147-A177-3AD203B41FA5}">
                      <a16:colId xmlns:a16="http://schemas.microsoft.com/office/drawing/2014/main" xmlns="" val="3493058612"/>
                    </a:ext>
                  </a:extLst>
                </a:gridCol>
                <a:gridCol w="3032567">
                  <a:extLst>
                    <a:ext uri="{9D8B030D-6E8A-4147-A177-3AD203B41FA5}">
                      <a16:colId xmlns:a16="http://schemas.microsoft.com/office/drawing/2014/main" xmlns="" val="1882464217"/>
                    </a:ext>
                  </a:extLst>
                </a:gridCol>
                <a:gridCol w="404651">
                  <a:extLst>
                    <a:ext uri="{9D8B030D-6E8A-4147-A177-3AD203B41FA5}">
                      <a16:colId xmlns:a16="http://schemas.microsoft.com/office/drawing/2014/main" xmlns="" val="234813064"/>
                    </a:ext>
                  </a:extLst>
                </a:gridCol>
              </a:tblGrid>
              <a:tr h="2866644">
                <a:tc rowSpan="2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51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>
                          <a:solidFill>
                            <a:schemeClr val="bg1"/>
                          </a:solidFill>
                          <a:latin typeface="Meta Offc Pro Normal" panose="020B0504030101020102" pitchFamily="34" charset="0"/>
                        </a:rPr>
                        <a:t>First level</a:t>
                      </a:r>
                    </a:p>
                  </a:txBody>
                  <a:tcPr marL="0" marB="2286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5199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51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76673918"/>
                  </a:ext>
                </a:extLst>
              </a:tr>
              <a:tr h="28666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474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>
                          <a:solidFill>
                            <a:schemeClr val="bg1"/>
                          </a:solidFill>
                          <a:latin typeface="Meta Offc Pro Medium" panose="020B0504030101020102" pitchFamily="34" charset="0"/>
                        </a:rPr>
                        <a:t>Second level</a:t>
                      </a:r>
                    </a:p>
                  </a:txBody>
                  <a:tcPr marL="0" marT="2286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51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474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65143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380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orient="horz" pos="388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17A467C-956C-4147-8259-5E18D24791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895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C89FB70-A2E5-7D4D-B6DA-7D5724368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5039519"/>
            <a:ext cx="12192000" cy="1828800"/>
          </a:xfrm>
          <a:solidFill>
            <a:srgbClr val="FF6000"/>
          </a:solidFill>
        </p:spPr>
        <p:txBody>
          <a:bodyPr lIns="457200" tIns="228600" rIns="457200" bIns="228600" anchor="ctr"/>
          <a:lstStyle>
            <a:lvl1pPr marL="0" indent="0" algn="ctr">
              <a:spcBef>
                <a:spcPts val="1600"/>
              </a:spcBef>
              <a:buNone/>
              <a:defRPr b="0" i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>
              <a:lnSpc>
                <a:spcPts val="3200"/>
              </a:lnSpc>
            </a:pPr>
            <a:r>
              <a:rPr lang="en-US"/>
              <a:t>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1E566A9-6606-1446-BBFF-7E4CB259492A}"/>
              </a:ext>
            </a:extLst>
          </p:cNvPr>
          <p:cNvSpPr/>
          <p:nvPr userDrawn="1"/>
        </p:nvSpPr>
        <p:spPr>
          <a:xfrm>
            <a:off x="0" y="-20638"/>
            <a:ext cx="12192000" cy="5049838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C00000">
                  <a:alpha val="1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A8FE861-0789-7849-B600-5E771F25E0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59728" y="3170867"/>
            <a:ext cx="547254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185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8703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685800"/>
            <a:ext cx="11277600" cy="914400"/>
          </a:xfrm>
        </p:spPr>
        <p:txBody>
          <a:bodyPr lIns="0" tIns="0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832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FFF8313-7090-854A-AAD4-179AABD4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11277600" cy="549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85801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0270D696-FC9D-764C-86AD-876ACA178F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828801"/>
            <a:ext cx="112776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685800"/>
            <a:ext cx="11277600" cy="914400"/>
          </a:xfrm>
        </p:spPr>
        <p:txBody>
          <a:bodyPr lIns="0" tIns="0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2708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0270D696-FC9D-764C-86AD-876ACA178F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828801"/>
            <a:ext cx="55245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685800"/>
            <a:ext cx="11277600" cy="914400"/>
          </a:xfrm>
        </p:spPr>
        <p:txBody>
          <a:bodyPr lIns="0" tIns="0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xmlns="" id="{EDD2E80A-661E-D848-9AB9-84DA8FB0AB6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10300" y="1828801"/>
            <a:ext cx="55245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8032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17A467C-956C-4147-8259-5E18D24791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895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C89FB70-A2E5-7D4D-B6DA-7D5724368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5039519"/>
            <a:ext cx="12192000" cy="1828800"/>
          </a:xfrm>
          <a:solidFill>
            <a:srgbClr val="FF6000"/>
          </a:solidFill>
        </p:spPr>
        <p:txBody>
          <a:bodyPr lIns="457200" tIns="228600" rIns="457200" bIns="228600" anchor="ctr"/>
          <a:lstStyle>
            <a:lvl1pPr marL="0" indent="0" algn="ctr">
              <a:spcBef>
                <a:spcPts val="1600"/>
              </a:spcBef>
              <a:buNone/>
              <a:defRPr b="0" i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>
              <a:lnSpc>
                <a:spcPts val="3200"/>
              </a:lnSpc>
            </a:pPr>
            <a:r>
              <a:rPr lang="en-US"/>
              <a:t>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1E566A9-6606-1446-BBFF-7E4CB259492A}"/>
              </a:ext>
            </a:extLst>
          </p:cNvPr>
          <p:cNvSpPr/>
          <p:nvPr userDrawn="1"/>
        </p:nvSpPr>
        <p:spPr>
          <a:xfrm>
            <a:off x="0" y="-20638"/>
            <a:ext cx="12192000" cy="5049838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C00000">
                  <a:alpha val="1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A8FE861-0789-7849-B600-5E771F25E0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59728" y="3170867"/>
            <a:ext cx="547254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169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21EB5284-9597-46A5-950D-E565292B5E8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50125" y="63060"/>
            <a:ext cx="10436771" cy="357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64423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685800"/>
            <a:ext cx="11277600" cy="914400"/>
          </a:xfrm>
        </p:spPr>
        <p:txBody>
          <a:bodyPr lIns="0" tIns="0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xmlns="" id="{6A23BC4D-F233-4757-9BF8-E07C96EDE6F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650125" y="63060"/>
            <a:ext cx="10436771" cy="357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55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FFF8313-7090-854A-AAD4-179AABD4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11277600" cy="549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9825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0270D696-FC9D-764C-86AD-876ACA178F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828801"/>
            <a:ext cx="112776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685800"/>
            <a:ext cx="11277600" cy="914400"/>
          </a:xfrm>
        </p:spPr>
        <p:txBody>
          <a:bodyPr lIns="0" tIns="0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11B38D43-4B1A-4943-A802-04DCDC5A477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650125" y="63060"/>
            <a:ext cx="10436771" cy="357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2770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0270D696-FC9D-764C-86AD-876ACA178F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828801"/>
            <a:ext cx="55245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685800"/>
            <a:ext cx="11277600" cy="914400"/>
          </a:xfrm>
        </p:spPr>
        <p:txBody>
          <a:bodyPr lIns="0" tIns="0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xmlns="" id="{EDD2E80A-661E-D848-9AB9-84DA8FB0AB6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10300" y="1828801"/>
            <a:ext cx="55245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5F668915-5B6E-421F-8022-D4E797F043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650125" y="63060"/>
            <a:ext cx="10436771" cy="357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49064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E3AB51B-3A49-A342-BE3F-5E2BD46BA0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03E89C1E-6378-F742-A324-2CF42EFF9E62}"/>
              </a:ext>
            </a:extLst>
          </p:cNvPr>
          <p:cNvCxnSpPr/>
          <p:nvPr userDrawn="1"/>
        </p:nvCxnSpPr>
        <p:spPr>
          <a:xfrm>
            <a:off x="4610100" y="3886197"/>
            <a:ext cx="2971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5">
            <a:extLst>
              <a:ext uri="{FF2B5EF4-FFF2-40B4-BE49-F238E27FC236}">
                <a16:creationId xmlns:a16="http://schemas.microsoft.com/office/drawing/2014/main" xmlns="" id="{DE998DCD-F704-474D-A6DF-49315EE940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514596"/>
            <a:ext cx="11277600" cy="914400"/>
          </a:xfr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xmlns="" id="{B5343CFF-100F-4346-BF6E-E7A5F827C7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343399"/>
            <a:ext cx="11277600" cy="914400"/>
          </a:xfrm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6323790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E3AB51B-3A49-A342-BE3F-5E2BD46BA0EE}"/>
              </a:ext>
            </a:extLst>
          </p:cNvPr>
          <p:cNvSpPr/>
          <p:nvPr userDrawn="1"/>
        </p:nvSpPr>
        <p:spPr>
          <a:xfrm>
            <a:off x="1" y="0"/>
            <a:ext cx="5044966" cy="6858000"/>
          </a:xfrm>
          <a:prstGeom prst="rect">
            <a:avLst/>
          </a:prstGeom>
          <a:solidFill>
            <a:srgbClr val="005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xmlns="" id="{DE998DCD-F704-474D-A6DF-49315EE940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491" y="1597573"/>
            <a:ext cx="4303986" cy="914400"/>
          </a:xfr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C2895042-4F03-453A-A37A-04D27BBA88F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358962" y="1597573"/>
            <a:ext cx="55245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31215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ntent with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0270D696-FC9D-764C-86AD-876ACA178F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445478"/>
            <a:ext cx="3879632" cy="5735866"/>
          </a:xfrm>
          <a:prstGeom prst="rect">
            <a:avLst/>
          </a:prstGeom>
          <a:solidFill>
            <a:srgbClr val="5A5199"/>
          </a:solidFill>
        </p:spPr>
        <p:txBody>
          <a:bodyPr vert="horz" lIns="118872" tIns="118872" rIns="118872" bIns="118872" rtlCol="0">
            <a:normAutofit/>
          </a:bodyPr>
          <a:lstStyle>
            <a:lvl2pPr>
              <a:buClr>
                <a:srgbClr val="474747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474747"/>
              </a:buClr>
              <a:defRPr>
                <a:solidFill>
                  <a:schemeClr val="bg1"/>
                </a:solidFill>
              </a:defRPr>
            </a:lvl3pPr>
            <a:lvl4pPr>
              <a:buClr>
                <a:srgbClr val="474747"/>
              </a:buClr>
              <a:defRPr>
                <a:solidFill>
                  <a:schemeClr val="bg1"/>
                </a:solidFill>
              </a:defRPr>
            </a:lvl4pPr>
            <a:lvl5pPr>
              <a:buClr>
                <a:srgbClr val="474747"/>
              </a:buClr>
              <a:defRPr>
                <a:solidFill>
                  <a:schemeClr val="bg1"/>
                </a:solidFill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9F73A484-D681-49D6-AD50-BFD90B7E1A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50125" y="63060"/>
            <a:ext cx="10436771" cy="357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1260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orient="horz" pos="388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2 Content with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0270D696-FC9D-764C-86AD-876ACA178F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445478"/>
            <a:ext cx="3879632" cy="5735866"/>
          </a:xfrm>
          <a:prstGeom prst="rect">
            <a:avLst/>
          </a:prstGeom>
          <a:solidFill>
            <a:srgbClr val="5A5199"/>
          </a:solidFill>
        </p:spPr>
        <p:txBody>
          <a:bodyPr vert="horz" lIns="118872" tIns="118872" rIns="118872" bIns="118872" rtlCol="0">
            <a:normAutofit/>
          </a:bodyPr>
          <a:lstStyle>
            <a:lvl2pPr>
              <a:buClr>
                <a:srgbClr val="474747"/>
              </a:buCl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474747"/>
              </a:buCl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474747"/>
              </a:buCl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474747"/>
              </a:buCl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6250" y="685800"/>
            <a:ext cx="7448550" cy="914400"/>
          </a:xfrm>
        </p:spPr>
        <p:txBody>
          <a:bodyPr lIns="0" tIns="118872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51ECD88C-3E6E-8245-96E0-8620BF080D4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86250" y="1828801"/>
            <a:ext cx="744855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9F73A484-D681-49D6-AD50-BFD90B7E1A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50125" y="63060"/>
            <a:ext cx="10436771" cy="357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9234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orient="horz" pos="388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Content with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0270D696-FC9D-764C-86AD-876ACA178F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445478"/>
            <a:ext cx="3879632" cy="5735866"/>
          </a:xfrm>
          <a:prstGeom prst="rect">
            <a:avLst/>
          </a:prstGeom>
          <a:solidFill>
            <a:srgbClr val="5A5199"/>
          </a:solidFill>
        </p:spPr>
        <p:txBody>
          <a:bodyPr vert="horz" lIns="118872" tIns="118872" rIns="118872" bIns="118872" rtlCol="0">
            <a:normAutofit/>
          </a:bodyPr>
          <a:lstStyle>
            <a:lvl2pPr>
              <a:buClr>
                <a:srgbClr val="474747"/>
              </a:buCl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474747"/>
              </a:buCl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474747"/>
              </a:buCl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474747"/>
              </a:buCl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6250" y="685800"/>
            <a:ext cx="7448550" cy="914400"/>
          </a:xfrm>
        </p:spPr>
        <p:txBody>
          <a:bodyPr lIns="0" tIns="118872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8EC4BF62-4A95-794A-87D2-275E64C118D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115300" y="1819658"/>
            <a:ext cx="36195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A53C1B6B-6651-DB40-86AB-CD3CEC2ABC7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86250" y="1828801"/>
            <a:ext cx="36195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7C32DD9D-F250-46A1-943A-0F0E8970BCC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50125" y="63060"/>
            <a:ext cx="10436771" cy="357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7793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orient="horz" pos="388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ntent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6250" y="685800"/>
            <a:ext cx="7448550" cy="914400"/>
          </a:xfrm>
        </p:spPr>
        <p:txBody>
          <a:bodyPr lIns="0" tIns="118872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8EC4BF62-4A95-794A-87D2-275E64C118D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115300" y="1819658"/>
            <a:ext cx="36195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A53C1B6B-6651-DB40-86AB-CD3CEC2ABC7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86250" y="1828801"/>
            <a:ext cx="36195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2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5A5199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A89BD93F-BC08-7643-83DA-D8E822100183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448055"/>
          <a:ext cx="3877056" cy="57332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9838">
                  <a:extLst>
                    <a:ext uri="{9D8B030D-6E8A-4147-A177-3AD203B41FA5}">
                      <a16:colId xmlns:a16="http://schemas.microsoft.com/office/drawing/2014/main" xmlns="" val="3493058612"/>
                    </a:ext>
                  </a:extLst>
                </a:gridCol>
                <a:gridCol w="3032567">
                  <a:extLst>
                    <a:ext uri="{9D8B030D-6E8A-4147-A177-3AD203B41FA5}">
                      <a16:colId xmlns:a16="http://schemas.microsoft.com/office/drawing/2014/main" xmlns="" val="1882464217"/>
                    </a:ext>
                  </a:extLst>
                </a:gridCol>
                <a:gridCol w="404651">
                  <a:extLst>
                    <a:ext uri="{9D8B030D-6E8A-4147-A177-3AD203B41FA5}">
                      <a16:colId xmlns:a16="http://schemas.microsoft.com/office/drawing/2014/main" xmlns="" val="234813064"/>
                    </a:ext>
                  </a:extLst>
                </a:gridCol>
              </a:tblGrid>
              <a:tr h="2866644">
                <a:tc rowSpan="2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51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>
                          <a:solidFill>
                            <a:schemeClr val="bg1"/>
                          </a:solidFill>
                          <a:latin typeface="Meta Offc Pro Normal" panose="020B0504030101020102" pitchFamily="34" charset="0"/>
                        </a:rPr>
                        <a:t>First level</a:t>
                      </a:r>
                    </a:p>
                  </a:txBody>
                  <a:tcPr marL="0" marB="22860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5199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51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76673918"/>
                  </a:ext>
                </a:extLst>
              </a:tr>
              <a:tr h="28666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474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>
                          <a:solidFill>
                            <a:schemeClr val="bg1"/>
                          </a:solidFill>
                          <a:latin typeface="Meta Offc Pro Medium" panose="020B0504030101020102" pitchFamily="34" charset="0"/>
                        </a:rPr>
                        <a:t>Second level</a:t>
                      </a:r>
                    </a:p>
                  </a:txBody>
                  <a:tcPr marL="0" marT="2286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51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474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65143482"/>
                  </a:ext>
                </a:extLst>
              </a:tr>
            </a:tbl>
          </a:graphicData>
        </a:graphic>
      </p:graphicFrame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1C780E52-9A9D-4491-839A-8EBA548E26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50125" y="63060"/>
            <a:ext cx="10436771" cy="357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79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orient="horz" pos="388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0270D696-FC9D-764C-86AD-876ACA178F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828801"/>
            <a:ext cx="112776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685800"/>
            <a:ext cx="11277600" cy="914400"/>
          </a:xfrm>
        </p:spPr>
        <p:txBody>
          <a:bodyPr lIns="0" tIns="0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38438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0270D696-FC9D-764C-86AD-876ACA178F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828801"/>
            <a:ext cx="11277600" cy="43525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B3629D-9B31-4C43-B717-ACDB6ED4C7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685800"/>
            <a:ext cx="11277600" cy="914400"/>
          </a:xfrm>
        </p:spPr>
        <p:txBody>
          <a:bodyPr lIns="0" tIns="0" rIns="0" bIns="0"/>
          <a:lstStyle>
            <a:lvl1pPr marL="0" indent="0">
              <a:lnSpc>
                <a:spcPts val="3200"/>
              </a:lnSpc>
              <a:spcBef>
                <a:spcPts val="1600"/>
              </a:spcBef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16540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Copyright © 2018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147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2018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3933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2018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70243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284723"/>
            <a:ext cx="5715000" cy="1086879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1600" b="1" cap="all" baseline="0"/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1" cap="all" baseline="0">
                <a:latin typeface="+mj-lt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lvl="0"/>
            <a:r>
              <a:rPr lang="en-US"/>
              <a:t>First subtitle</a:t>
            </a:r>
          </a:p>
          <a:p>
            <a:pPr lvl="1"/>
            <a:r>
              <a:rPr lang="en-US"/>
              <a:t>Second SUBTITLE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2018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1" y="380999"/>
            <a:ext cx="5715001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137530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s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284723"/>
            <a:ext cx="5715000" cy="1086879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1600" b="1" cap="all" baseline="0"/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1" cap="all" baseline="0">
                <a:latin typeface="+mj-lt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lvl="0"/>
            <a:r>
              <a:rPr lang="en-US"/>
              <a:t>First subtitle</a:t>
            </a:r>
          </a:p>
          <a:p>
            <a:pPr lvl="1"/>
            <a:r>
              <a:rPr lang="en-US"/>
              <a:t>Second SUBTITLE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2018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1" y="380999"/>
            <a:ext cx="5715001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57150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11"/>
          <p:cNvSpPr>
            <a:spLocks noGrp="1"/>
          </p:cNvSpPr>
          <p:nvPr>
            <p:ph sz="quarter" idx="19"/>
          </p:nvPr>
        </p:nvSpPr>
        <p:spPr>
          <a:xfrm>
            <a:off x="6103621" y="1828804"/>
            <a:ext cx="57150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569442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2018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381001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8FE1D18-1061-46EA-9706-6BD8C5FAF6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1000" y="762000"/>
            <a:ext cx="11430000" cy="457200"/>
          </a:xfrm>
        </p:spPr>
        <p:txBody>
          <a:bodyPr>
            <a:noAutofit/>
          </a:bodyPr>
          <a:lstStyle>
            <a:lvl1pPr>
              <a:lnSpc>
                <a:spcPct val="70000"/>
              </a:lnSpc>
              <a:spcAft>
                <a:spcPts val="0"/>
              </a:spcAft>
              <a:defRPr sz="1600">
                <a:solidFill>
                  <a:schemeClr val="accent4"/>
                </a:solidFill>
              </a:defRPr>
            </a:lvl1pPr>
            <a:lvl2pPr marL="5556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76106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s Only: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2018 Accenture.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5920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s Only: Dark">
    <p:bg>
      <p:bgPr>
        <a:gradFill>
          <a:gsLst>
            <a:gs pos="0">
              <a:srgbClr val="000088"/>
            </a:gs>
            <a:gs pos="93000">
              <a:schemeClr val="accent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© 2018 Accenture.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386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a_1Column_HeroYello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5741" y="554272"/>
            <a:ext cx="11474881" cy="5434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MAIN TITLE AT 36PT MIN 30PT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5741" y="1098297"/>
            <a:ext cx="11474881" cy="477054"/>
          </a:xfrm>
        </p:spPr>
        <p:txBody>
          <a:bodyPr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Insert sub-title here at 22pt, min 18pt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/>
              <a:t>Copyright © 2018 Accenture. All rights reserved.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7"/>
          <p:cNvSpPr>
            <a:spLocks noGrp="1"/>
          </p:cNvSpPr>
          <p:nvPr>
            <p:ph sz="quarter" idx="11" hasCustomPrompt="1"/>
          </p:nvPr>
        </p:nvSpPr>
        <p:spPr>
          <a:xfrm>
            <a:off x="355739" y="1774415"/>
            <a:ext cx="7526940" cy="4175033"/>
          </a:xfrm>
        </p:spPr>
        <p:txBody>
          <a:bodyPr/>
          <a:lstStyle>
            <a:lvl1pPr>
              <a:lnSpc>
                <a:spcPct val="110000"/>
              </a:lnSpc>
              <a:spcBef>
                <a:spcPts val="1200"/>
              </a:spcBef>
              <a:defRPr sz="20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2000" baseline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20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ct val="110000"/>
              </a:lnSpc>
              <a:spcBef>
                <a:spcPts val="800"/>
              </a:spcBef>
              <a:defRPr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ct val="110000"/>
              </a:lnSpc>
              <a:spcBef>
                <a:spcPts val="800"/>
              </a:spcBef>
              <a:defRPr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r>
              <a:rPr lang="en-US"/>
              <a:t>Minimum font size 14pt and line spacing of at least Multiple 1.1</a:t>
            </a:r>
          </a:p>
          <a:p>
            <a:pPr lvl="1"/>
            <a:r>
              <a:rPr lang="pt-BR"/>
              <a:t>Apita imentemqui te sunte cuptia sam cus dem qui deni dictiis dit qui sitae et as sant incitatet, as aut eost, nonsend?</a:t>
            </a:r>
          </a:p>
          <a:p>
            <a:pPr lvl="1"/>
            <a:r>
              <a:rPr lang="pt-BR"/>
              <a:t>As se eni dolestotate con raerum es ini officiis eos reseque peles aut que perferepudi odit perror mo blaborrum et reium as sum.</a:t>
            </a:r>
          </a:p>
          <a:p>
            <a:pPr lvl="2"/>
            <a:r>
              <a:rPr lang="pt-BR"/>
              <a:t>Nimi, qui restis sinihilla verum quatis estrum aut aute nonestr</a:t>
            </a:r>
          </a:p>
          <a:p>
            <a:pPr lvl="2"/>
            <a:r>
              <a:rPr lang="pt-BR"/>
              <a:t>Pudae dolores sedita qui con nempos inullitae esciet que</a:t>
            </a:r>
          </a:p>
        </p:txBody>
      </p:sp>
    </p:spTree>
    <p:extLst>
      <p:ext uri="{BB962C8B-B14F-4D97-AF65-F5344CB8AC3E}">
        <p14:creationId xmlns:p14="http://schemas.microsoft.com/office/powerpoint/2010/main" val="380469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and Tex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25468" y="1164086"/>
            <a:ext cx="10941073" cy="395908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800" b="1" cap="all" baseline="0">
                <a:solidFill>
                  <a:schemeClr val="tx1"/>
                </a:solidFill>
              </a:defRPr>
            </a:lvl1pPr>
            <a:lvl2pPr>
              <a:defRPr sz="3500"/>
            </a:lvl2pPr>
            <a:lvl3pPr>
              <a:defRPr sz="3200"/>
            </a:lvl3pPr>
            <a:lvl4pPr>
              <a:defRPr sz="29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1"/>
          </p:nvPr>
        </p:nvSpPr>
        <p:spPr>
          <a:xfrm>
            <a:off x="625468" y="1559995"/>
            <a:ext cx="10941073" cy="4876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93F1B3B-BB2C-4430-B400-0AFB991B503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529315B-CE4E-4F63-81AA-EC734F0E1F1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484AE759-B126-4DB6-9804-A06C1770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0854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9" y="159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10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5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9"/>
                        <a:ext cx="2116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60000" y="1440000"/>
            <a:ext cx="11472000" cy="504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57725" y="1035995"/>
            <a:ext cx="9342967" cy="307975"/>
          </a:xfrm>
        </p:spPr>
        <p:txBody>
          <a:bodyPr>
            <a:noAutofit/>
          </a:bodyPr>
          <a:lstStyle>
            <a:lvl1pPr marL="0" indent="0">
              <a:buNone/>
              <a:defRPr sz="1200" b="1">
                <a:solidFill>
                  <a:schemeClr val="bg1">
                    <a:lumMod val="5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179123F4-94B3-4373-8B82-6A4CC9257C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1694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572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Copyright © 2018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4756967-4FF8-49E5-A793-FE4E433851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838200"/>
            <a:ext cx="11430000" cy="457200"/>
          </a:xfrm>
        </p:spPr>
        <p:txBody>
          <a:bodyPr>
            <a:noAutofit/>
          </a:bodyPr>
          <a:lstStyle>
            <a:lvl1pPr>
              <a:defRPr sz="1800">
                <a:solidFill>
                  <a:srgbClr val="00BAFF"/>
                </a:solidFill>
              </a:defRPr>
            </a:lvl1pPr>
            <a:lvl2pPr marL="5556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99726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: 2 of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xmlns="" id="{17360ED9-7DB7-45A2-B404-F80C6A19AF8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9" y="1588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58"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xmlns="" id="{17360ED9-7DB7-45A2-B404-F80C6A19AF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5864513F-5D02-424C-ABCB-6F51B2EE054E}"/>
              </a:ext>
            </a:extLst>
          </p:cNvPr>
          <p:cNvSpPr/>
          <p:nvPr userDrawn="1"/>
        </p:nvSpPr>
        <p:spPr>
          <a:xfrm>
            <a:off x="9749598" y="-5077"/>
            <a:ext cx="2442402" cy="882110"/>
          </a:xfrm>
          <a:prstGeom prst="rect">
            <a:avLst/>
          </a:prstGeom>
          <a:solidFill>
            <a:schemeClr val="bg1">
              <a:alpha val="27059"/>
            </a:schemeClr>
          </a:solidFill>
          <a:ln w="19050">
            <a:noFill/>
            <a:prstDash val="sysDot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/>
            <a:endParaRPr lang="en-US" sz="180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1"/>
          </p:nvPr>
        </p:nvSpPr>
        <p:spPr>
          <a:xfrm>
            <a:off x="7495798" y="6537399"/>
            <a:ext cx="4141956" cy="161962"/>
          </a:xfrm>
        </p:spPr>
        <p:txBody>
          <a:bodyPr/>
          <a:lstStyle>
            <a:lvl1pPr>
              <a:defRPr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r>
              <a:rPr lang="en-US"/>
              <a:t>Copyright © 2017  Accenture. All rights reserved. Accenture Confidential Information    |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399"/>
            <a:ext cx="216084" cy="161888"/>
          </a:xfrm>
        </p:spPr>
        <p:txBody>
          <a:bodyPr/>
          <a:lstStyle>
            <a:lvl1pPr>
              <a:defRPr>
                <a:solidFill>
                  <a:srgbClr val="000000">
                    <a:alpha val="50000"/>
                  </a:srgb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9" name="Title 36">
            <a:extLst>
              <a:ext uri="{FF2B5EF4-FFF2-40B4-BE49-F238E27FC236}">
                <a16:creationId xmlns:a16="http://schemas.microsoft.com/office/drawing/2014/main" xmlns="" id="{C87B7955-39BD-4451-A3F0-FEA03250EE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040" y="274557"/>
            <a:ext cx="10396770" cy="322842"/>
          </a:xfrm>
        </p:spPr>
        <p:txBody>
          <a:bodyPr/>
          <a:lstStyle>
            <a:lvl1pPr algn="l">
              <a:defRPr sz="2400" cap="none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435753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Copyright © 2018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403706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5468" y="6"/>
            <a:ext cx="10941073" cy="10951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25468" y="1163369"/>
            <a:ext cx="10941073" cy="395908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800" b="1" cap="all" baseline="0">
                <a:solidFill>
                  <a:schemeClr val="tx1"/>
                </a:solidFill>
              </a:defRPr>
            </a:lvl1pPr>
            <a:lvl2pPr>
              <a:defRPr sz="3500"/>
            </a:lvl2pPr>
            <a:lvl3pPr>
              <a:defRPr sz="3200"/>
            </a:lvl3pPr>
            <a:lvl4pPr>
              <a:defRPr sz="29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430AAB7-5AD7-48E8-82AB-87CC086B6E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529315B-CE4E-4F63-81AA-EC734F0E1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4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: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95302"/>
            <a:ext cx="8953500" cy="6172199"/>
          </a:xfrm>
        </p:spPr>
        <p:txBody>
          <a:bodyPr>
            <a:noAutofit/>
          </a:bodyPr>
          <a:lstStyle>
            <a:lvl1pPr marL="0" indent="0">
              <a:lnSpc>
                <a:spcPct val="65000"/>
              </a:lnSpc>
              <a:defRPr sz="12000" b="1" spc="-200" baseline="0">
                <a:latin typeface="+mj-lt"/>
              </a:defRPr>
            </a:lvl1pPr>
            <a:lvl2pPr marL="55561" indent="0">
              <a:lnSpc>
                <a:spcPct val="65000"/>
              </a:lnSpc>
              <a:spcAft>
                <a:spcPts val="0"/>
              </a:spcAft>
              <a:defRPr sz="6000" b="1" cap="all" spc="-150" baseline="0">
                <a:latin typeface="+mj-lt"/>
              </a:defRPr>
            </a:lvl2pPr>
            <a:lvl3pPr marL="55561" indent="0">
              <a:lnSpc>
                <a:spcPct val="70000"/>
              </a:lnSpc>
              <a:spcAft>
                <a:spcPts val="0"/>
              </a:spcAft>
              <a:defRPr sz="4000" b="1" cap="all" baseline="0">
                <a:latin typeface="+mj-lt"/>
              </a:defRPr>
            </a:lvl3pPr>
            <a:lvl4pPr marL="55561" indent="0">
              <a:lnSpc>
                <a:spcPct val="80000"/>
              </a:lnSpc>
              <a:buNone/>
              <a:defRPr sz="3000" b="1" cap="all" baseline="0">
                <a:latin typeface="+mj-lt"/>
              </a:defRPr>
            </a:lvl4pPr>
            <a:lvl5pPr marL="55561" indent="0">
              <a:lnSpc>
                <a:spcPct val="80000"/>
              </a:lnSpc>
              <a:buNone/>
              <a:defRPr sz="2000" b="1" cap="all" baseline="0">
                <a:latin typeface="+mj-lt"/>
              </a:defRPr>
            </a:lvl5pPr>
          </a:lstStyle>
          <a:p>
            <a:pPr lvl="0"/>
            <a:r>
              <a:rPr lang="en-US" err="1"/>
              <a:t>fIrst</a:t>
            </a:r>
            <a:r>
              <a:rPr lang="en-US"/>
              <a:t>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48106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b_2Columns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55741" y="554272"/>
            <a:ext cx="11474881" cy="54347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MAIN TITLE AT 36PT MIN 30PT</a:t>
            </a:r>
            <a:endParaRPr lang="en-AU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5741" y="1128768"/>
            <a:ext cx="11474881" cy="407894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Insert sub-title here at 22pt, min 18pt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55740" y="1774415"/>
            <a:ext cx="5590547" cy="4175033"/>
          </a:xfrm>
        </p:spPr>
        <p:txBody>
          <a:bodyPr/>
          <a:lstStyle>
            <a:lvl1pPr>
              <a:lnSpc>
                <a:spcPct val="110000"/>
              </a:lnSpc>
              <a:spcBef>
                <a:spcPts val="12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ct val="110000"/>
              </a:lnSpc>
              <a:spcBef>
                <a:spcPts val="80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ct val="110000"/>
              </a:lnSpc>
              <a:spcBef>
                <a:spcPts val="80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r>
              <a:rPr lang="en-US"/>
              <a:t>Minimum font size 14pt and line spacing of at least Multiple 1.1</a:t>
            </a:r>
          </a:p>
          <a:p>
            <a:pPr lvl="1"/>
            <a:r>
              <a:rPr lang="pt-BR"/>
              <a:t>Apita imentemqui te sunte cuptia sam cus dem qui deni dictiis dit qui sitae et as sant incitatet, as aut eost, nonsend?</a:t>
            </a:r>
          </a:p>
          <a:p>
            <a:pPr lvl="1"/>
            <a:r>
              <a:rPr lang="pt-BR"/>
              <a:t>As se eni dolestotate con raerum es ini officiis eos reseque peles aut que perferepudi odit perror mo blaborrum et reium as sum.</a:t>
            </a:r>
          </a:p>
          <a:p>
            <a:pPr lvl="2"/>
            <a:r>
              <a:rPr lang="pt-BR"/>
              <a:t>Nimi, qui restis sinihilla verum quatis estrum aut aute nonestr</a:t>
            </a:r>
          </a:p>
        </p:txBody>
      </p:sp>
      <p:sp>
        <p:nvSpPr>
          <p:cNvPr id="17" name="Content Placeholder 3"/>
          <p:cNvSpPr>
            <a:spLocks noGrp="1"/>
          </p:cNvSpPr>
          <p:nvPr>
            <p:ph sz="quarter" idx="17" hasCustomPrompt="1"/>
          </p:nvPr>
        </p:nvSpPr>
        <p:spPr>
          <a:xfrm>
            <a:off x="6239727" y="1774395"/>
            <a:ext cx="5589383" cy="4175033"/>
          </a:xfrm>
        </p:spPr>
        <p:txBody>
          <a:bodyPr/>
          <a:lstStyle>
            <a:lvl1pPr>
              <a:lnSpc>
                <a:spcPct val="110000"/>
              </a:lnSpc>
              <a:spcBef>
                <a:spcPts val="12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ct val="110000"/>
              </a:lnSpc>
              <a:spcBef>
                <a:spcPts val="80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ct val="110000"/>
              </a:lnSpc>
              <a:spcBef>
                <a:spcPts val="80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r>
              <a:rPr lang="en-US"/>
              <a:t>Minimum font size 14pt and line spacing of at least Multiple 1.1</a:t>
            </a:r>
          </a:p>
          <a:p>
            <a:pPr lvl="1"/>
            <a:r>
              <a:rPr lang="pt-BR"/>
              <a:t>Apita imentemqui te sunte cuptia sam cus dem qui deni dictiis dit qui sitae et as sant incitatet, as aut eost, nonsend?</a:t>
            </a:r>
          </a:p>
          <a:p>
            <a:pPr lvl="1"/>
            <a:r>
              <a:rPr lang="pt-BR"/>
              <a:t>As se eni dolestotate con raerum es ini officiis eos reseque peles aut que perferepudi odit perror mo blaborrum et reium as sum.</a:t>
            </a:r>
          </a:p>
          <a:p>
            <a:pPr lvl="2"/>
            <a:r>
              <a:rPr lang="pt-BR"/>
              <a:t>Nimi, qui restis sinihilla verum quatis estrum aut aute nonestr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/>
              <a:t>Highly Confidential Copyright © 2017 Accenture. All rights reserved.</a:t>
            </a:r>
            <a:endParaRPr lang="en-AU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19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Graphik" charset="0"/>
                <a:ea typeface="Graphik" charset="0"/>
                <a:cs typeface="Graphik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Graphik" charset="0"/>
                <a:ea typeface="Graphik" charset="0"/>
                <a:cs typeface="Graphik" charset="0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605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i="0" kern="1200" cap="all" baseline="0">
          <a:solidFill>
            <a:schemeClr val="tx1"/>
          </a:solidFill>
          <a:latin typeface="Graphik Black" charset="0"/>
          <a:ea typeface="Graphik Black" charset="0"/>
          <a:cs typeface="Graphik Black" charset="0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i="0" kern="1200" cap="none" baseline="0">
          <a:solidFill>
            <a:schemeClr val="tx1"/>
          </a:solidFill>
          <a:latin typeface="Graphik" charset="0"/>
          <a:ea typeface="Graphik" charset="0"/>
          <a:cs typeface="Graphik" charset="0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Graphik" charset="0"/>
          <a:ea typeface="Graphik" charset="0"/>
          <a:cs typeface="Graphik" charset="0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b="0" i="0" kern="1200">
          <a:solidFill>
            <a:schemeClr val="tx1"/>
          </a:solidFill>
          <a:latin typeface="Graphik" charset="0"/>
          <a:ea typeface="Graphik" charset="0"/>
          <a:cs typeface="Graphik" charset="0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6E35B3B9-9732-8049-B290-ACB5725B1220}"/>
              </a:ext>
            </a:extLst>
          </p:cNvPr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05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6B5ED1-7D7B-D04E-B7DE-14CA68ECE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685800"/>
            <a:ext cx="11277600" cy="549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E011E822-35A1-B44E-A190-43A8F665DBB6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865" y="0"/>
            <a:ext cx="1256703" cy="4572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482FD2B6-6C20-2A4F-A6C0-A8390F6C0257}"/>
              </a:ext>
            </a:extLst>
          </p:cNvPr>
          <p:cNvCxnSpPr/>
          <p:nvPr userDrawn="1"/>
        </p:nvCxnSpPr>
        <p:spPr>
          <a:xfrm>
            <a:off x="1580839" y="114300"/>
            <a:ext cx="1" cy="2286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ACAEB42B-2277-F044-BC41-37350DD28BBB}"/>
              </a:ext>
            </a:extLst>
          </p:cNvPr>
          <p:cNvSpPr/>
          <p:nvPr userDrawn="1"/>
        </p:nvSpPr>
        <p:spPr>
          <a:xfrm>
            <a:off x="468923" y="6402633"/>
            <a:ext cx="1371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Section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6808DE7C-377D-B647-83DD-5DC6DAE540F0}"/>
              </a:ext>
            </a:extLst>
          </p:cNvPr>
          <p:cNvSpPr/>
          <p:nvPr userDrawn="1"/>
        </p:nvSpPr>
        <p:spPr>
          <a:xfrm>
            <a:off x="1899959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xmlns="" id="{D2072102-0EE4-0743-ABDF-4988891E486C}"/>
              </a:ext>
            </a:extLst>
          </p:cNvPr>
          <p:cNvSpPr/>
          <p:nvPr userDrawn="1"/>
        </p:nvSpPr>
        <p:spPr>
          <a:xfrm>
            <a:off x="2187995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xmlns="" id="{977FBF24-1DB5-8844-A33F-706090C536E8}"/>
              </a:ext>
            </a:extLst>
          </p:cNvPr>
          <p:cNvSpPr/>
          <p:nvPr userDrawn="1"/>
        </p:nvSpPr>
        <p:spPr>
          <a:xfrm>
            <a:off x="2476031" y="6407396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xmlns="" id="{6E15B7A1-A30E-E942-BA37-4AEE56DDA1C8}"/>
              </a:ext>
            </a:extLst>
          </p:cNvPr>
          <p:cNvSpPr/>
          <p:nvPr userDrawn="1"/>
        </p:nvSpPr>
        <p:spPr>
          <a:xfrm>
            <a:off x="2764067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5FB21BB1-C7F4-7B4C-8CF0-316360F8B36D}"/>
              </a:ext>
            </a:extLst>
          </p:cNvPr>
          <p:cNvSpPr/>
          <p:nvPr userDrawn="1"/>
        </p:nvSpPr>
        <p:spPr>
          <a:xfrm>
            <a:off x="3052103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A6E6308B-F4E6-4A42-ACFD-F47A68E96D95}"/>
              </a:ext>
            </a:extLst>
          </p:cNvPr>
          <p:cNvSpPr/>
          <p:nvPr userDrawn="1"/>
        </p:nvSpPr>
        <p:spPr>
          <a:xfrm>
            <a:off x="3340139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EBA598B1-FE47-CC4B-95AC-AC0FF4C89DE3}"/>
              </a:ext>
            </a:extLst>
          </p:cNvPr>
          <p:cNvSpPr/>
          <p:nvPr userDrawn="1"/>
        </p:nvSpPr>
        <p:spPr>
          <a:xfrm>
            <a:off x="3628175" y="6407396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900D9D09-F1B2-5743-83E2-B6BAB6F04220}"/>
              </a:ext>
            </a:extLst>
          </p:cNvPr>
          <p:cNvSpPr/>
          <p:nvPr userDrawn="1"/>
        </p:nvSpPr>
        <p:spPr>
          <a:xfrm>
            <a:off x="3916211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xmlns="" id="{35D4E223-498C-F646-80B9-51582BA19014}"/>
              </a:ext>
            </a:extLst>
          </p:cNvPr>
          <p:cNvSpPr/>
          <p:nvPr userDrawn="1"/>
        </p:nvSpPr>
        <p:spPr>
          <a:xfrm>
            <a:off x="4214915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xmlns="" id="{70EF8866-F017-D340-A3FD-4C8E65E8FB37}"/>
              </a:ext>
            </a:extLst>
          </p:cNvPr>
          <p:cNvSpPr/>
          <p:nvPr userDrawn="1"/>
        </p:nvSpPr>
        <p:spPr>
          <a:xfrm>
            <a:off x="4513619" y="6402633"/>
            <a:ext cx="4572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xmlns="" id="{7C28C36C-7EE0-EF49-9BE1-2778DA4C67BB}"/>
              </a:ext>
            </a:extLst>
          </p:cNvPr>
          <p:cNvSpPr/>
          <p:nvPr userDrawn="1"/>
        </p:nvSpPr>
        <p:spPr>
          <a:xfrm>
            <a:off x="5024159" y="6402633"/>
            <a:ext cx="4572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xmlns="" id="{03F686FD-B02D-8640-8A3B-596D3245AFB8}"/>
              </a:ext>
            </a:extLst>
          </p:cNvPr>
          <p:cNvSpPr/>
          <p:nvPr userDrawn="1"/>
        </p:nvSpPr>
        <p:spPr>
          <a:xfrm>
            <a:off x="5540795" y="6402633"/>
            <a:ext cx="4572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42F13953-B41B-AC4C-A0F2-428ABC2A8687}"/>
              </a:ext>
            </a:extLst>
          </p:cNvPr>
          <p:cNvSpPr txBox="1"/>
          <p:nvPr userDrawn="1"/>
        </p:nvSpPr>
        <p:spPr>
          <a:xfrm>
            <a:off x="9448800" y="6455377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©2018 Discover Financial Services</a:t>
            </a:r>
            <a:r>
              <a:rPr lang="en-US" sz="800" b="0" i="0">
                <a:solidFill>
                  <a:srgbClr val="00548A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 | </a:t>
            </a:r>
            <a:fld id="{EF786444-7F1B-AD45-868C-939B305E1CA0}" type="slidenum">
              <a:rPr lang="en-US" sz="800" b="0" i="0" smtClean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0" i="0">
              <a:solidFill>
                <a:srgbClr val="474747"/>
              </a:solidFill>
              <a:latin typeface="Meta Offc Pro Thin" panose="020B0404030101020102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539CE0BE-A05E-704C-AECF-717FD44CD237}"/>
              </a:ext>
            </a:extLst>
          </p:cNvPr>
          <p:cNvSpPr txBox="1"/>
          <p:nvPr userDrawn="1"/>
        </p:nvSpPr>
        <p:spPr>
          <a:xfrm>
            <a:off x="1593111" y="105489"/>
            <a:ext cx="10153961" cy="246221"/>
          </a:xfrm>
          <a:prstGeom prst="rect">
            <a:avLst/>
          </a:prstGeom>
          <a:noFill/>
        </p:spPr>
        <p:txBody>
          <a:bodyPr wrap="square" lIns="164592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i="0">
                <a:solidFill>
                  <a:schemeClr val="bg1"/>
                </a:solidFill>
                <a:latin typeface="Meta Offc Pro Medium" panose="020B0504030101020102" pitchFamily="34" charset="0"/>
              </a:rPr>
              <a:t>AAP Data Strategy</a:t>
            </a:r>
            <a:r>
              <a:rPr lang="en-US" sz="1600" b="0" i="0" baseline="0">
                <a:solidFill>
                  <a:schemeClr val="bg1"/>
                </a:solidFill>
                <a:latin typeface="Meta Offc Pro Medium" panose="020B0504030101020102" pitchFamily="34" charset="0"/>
              </a:rPr>
              <a:t> Plan</a:t>
            </a:r>
            <a:endParaRPr lang="en-US" sz="1600" b="0" i="0">
              <a:solidFill>
                <a:schemeClr val="bg1"/>
              </a:solidFill>
              <a:latin typeface="Meta Offc Pro Medium" panose="020B0504030101020102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0DB2860-4737-E243-BAAA-A7B5D68F3EF6}"/>
              </a:ext>
            </a:extLst>
          </p:cNvPr>
          <p:cNvSpPr/>
          <p:nvPr userDrawn="1"/>
        </p:nvSpPr>
        <p:spPr>
          <a:xfrm>
            <a:off x="422031" y="6295292"/>
            <a:ext cx="5673969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9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bg1"/>
          </a:solidFill>
          <a:latin typeface="Futura Medium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48A"/>
        </a:buClr>
        <a:buFont typeface="Wingdings" pitchFamily="2" charset="2"/>
        <a:buChar char="§"/>
        <a:defRPr sz="2800" b="0" i="0" kern="1200">
          <a:solidFill>
            <a:srgbClr val="474747"/>
          </a:solidFill>
          <a:latin typeface="Meta Offc Pro Normal" panose="020B0504030101020102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48A"/>
        </a:buClr>
        <a:buFont typeface="Wingdings" pitchFamily="2" charset="2"/>
        <a:buChar char="§"/>
        <a:defRPr sz="2400" b="0" i="0" kern="1200">
          <a:solidFill>
            <a:srgbClr val="474747"/>
          </a:solidFill>
          <a:latin typeface="Meta Offc Pro Normal" panose="020B0504030101020102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48A"/>
        </a:buClr>
        <a:buFont typeface="Wingdings" pitchFamily="2" charset="2"/>
        <a:buChar char="§"/>
        <a:defRPr sz="2000" b="0" i="0" kern="1200">
          <a:solidFill>
            <a:srgbClr val="474747"/>
          </a:solidFill>
          <a:latin typeface="Meta Offc Pro Normal" panose="020B0504030101020102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48A"/>
        </a:buClr>
        <a:buFont typeface="Wingdings" pitchFamily="2" charset="2"/>
        <a:buChar char="§"/>
        <a:defRPr sz="1800" b="0" i="0" kern="1200">
          <a:solidFill>
            <a:srgbClr val="474747"/>
          </a:solidFill>
          <a:latin typeface="Meta Offc Pro Normal" panose="020B0504030101020102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48A"/>
        </a:buClr>
        <a:buFont typeface="Wingdings" pitchFamily="2" charset="2"/>
        <a:buChar char="§"/>
        <a:defRPr sz="1800" b="0" i="0" kern="1200">
          <a:solidFill>
            <a:srgbClr val="474747"/>
          </a:solidFill>
          <a:latin typeface="Meta Offc Pro Normal" panose="020B0504030101020102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">
          <p15:clr>
            <a:srgbClr val="F26B43"/>
          </p15:clr>
        </p15:guide>
        <p15:guide id="3" orient="horz" pos="3888">
          <p15:clr>
            <a:srgbClr val="F26B43"/>
          </p15:clr>
        </p15:guide>
        <p15:guide id="4" pos="7392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43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6E35B3B9-9732-8049-B290-ACB5725B1220}"/>
              </a:ext>
            </a:extLst>
          </p:cNvPr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05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6B5ED1-7D7B-D04E-B7DE-14CA68ECE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685800"/>
            <a:ext cx="11277600" cy="549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E011E822-35A1-B44E-A190-43A8F665DBB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865" y="0"/>
            <a:ext cx="1256703" cy="4572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482FD2B6-6C20-2A4F-A6C0-A8390F6C0257}"/>
              </a:ext>
            </a:extLst>
          </p:cNvPr>
          <p:cNvCxnSpPr/>
          <p:nvPr userDrawn="1"/>
        </p:nvCxnSpPr>
        <p:spPr>
          <a:xfrm>
            <a:off x="1580839" y="114300"/>
            <a:ext cx="1" cy="2286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ACAEB42B-2277-F044-BC41-37350DD28BBB}"/>
              </a:ext>
            </a:extLst>
          </p:cNvPr>
          <p:cNvSpPr/>
          <p:nvPr userDrawn="1"/>
        </p:nvSpPr>
        <p:spPr>
          <a:xfrm>
            <a:off x="468923" y="6402633"/>
            <a:ext cx="1371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Section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6808DE7C-377D-B647-83DD-5DC6DAE540F0}"/>
              </a:ext>
            </a:extLst>
          </p:cNvPr>
          <p:cNvSpPr/>
          <p:nvPr userDrawn="1"/>
        </p:nvSpPr>
        <p:spPr>
          <a:xfrm>
            <a:off x="1899959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xmlns="" id="{D2072102-0EE4-0743-ABDF-4988891E486C}"/>
              </a:ext>
            </a:extLst>
          </p:cNvPr>
          <p:cNvSpPr/>
          <p:nvPr userDrawn="1"/>
        </p:nvSpPr>
        <p:spPr>
          <a:xfrm>
            <a:off x="2187995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xmlns="" id="{977FBF24-1DB5-8844-A33F-706090C536E8}"/>
              </a:ext>
            </a:extLst>
          </p:cNvPr>
          <p:cNvSpPr/>
          <p:nvPr userDrawn="1"/>
        </p:nvSpPr>
        <p:spPr>
          <a:xfrm>
            <a:off x="2476031" y="6407396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xmlns="" id="{6E15B7A1-A30E-E942-BA37-4AEE56DDA1C8}"/>
              </a:ext>
            </a:extLst>
          </p:cNvPr>
          <p:cNvSpPr/>
          <p:nvPr userDrawn="1"/>
        </p:nvSpPr>
        <p:spPr>
          <a:xfrm>
            <a:off x="2764067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5FB21BB1-C7F4-7B4C-8CF0-316360F8B36D}"/>
              </a:ext>
            </a:extLst>
          </p:cNvPr>
          <p:cNvSpPr/>
          <p:nvPr userDrawn="1"/>
        </p:nvSpPr>
        <p:spPr>
          <a:xfrm>
            <a:off x="3052103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A6E6308B-F4E6-4A42-ACFD-F47A68E96D95}"/>
              </a:ext>
            </a:extLst>
          </p:cNvPr>
          <p:cNvSpPr/>
          <p:nvPr userDrawn="1"/>
        </p:nvSpPr>
        <p:spPr>
          <a:xfrm>
            <a:off x="3340139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EBA598B1-FE47-CC4B-95AC-AC0FF4C89DE3}"/>
              </a:ext>
            </a:extLst>
          </p:cNvPr>
          <p:cNvSpPr/>
          <p:nvPr userDrawn="1"/>
        </p:nvSpPr>
        <p:spPr>
          <a:xfrm>
            <a:off x="3628175" y="6407396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900D9D09-F1B2-5743-83E2-B6BAB6F04220}"/>
              </a:ext>
            </a:extLst>
          </p:cNvPr>
          <p:cNvSpPr/>
          <p:nvPr userDrawn="1"/>
        </p:nvSpPr>
        <p:spPr>
          <a:xfrm>
            <a:off x="3916211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xmlns="" id="{35D4E223-498C-F646-80B9-51582BA19014}"/>
              </a:ext>
            </a:extLst>
          </p:cNvPr>
          <p:cNvSpPr/>
          <p:nvPr userDrawn="1"/>
        </p:nvSpPr>
        <p:spPr>
          <a:xfrm>
            <a:off x="4214915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xmlns="" id="{70EF8866-F017-D340-A3FD-4C8E65E8FB37}"/>
              </a:ext>
            </a:extLst>
          </p:cNvPr>
          <p:cNvSpPr/>
          <p:nvPr userDrawn="1"/>
        </p:nvSpPr>
        <p:spPr>
          <a:xfrm>
            <a:off x="4513619" y="6402633"/>
            <a:ext cx="4572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xmlns="" id="{7C28C36C-7EE0-EF49-9BE1-2778DA4C67BB}"/>
              </a:ext>
            </a:extLst>
          </p:cNvPr>
          <p:cNvSpPr/>
          <p:nvPr userDrawn="1"/>
        </p:nvSpPr>
        <p:spPr>
          <a:xfrm>
            <a:off x="5024159" y="6402633"/>
            <a:ext cx="4572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xmlns="" id="{03F686FD-B02D-8640-8A3B-596D3245AFB8}"/>
              </a:ext>
            </a:extLst>
          </p:cNvPr>
          <p:cNvSpPr/>
          <p:nvPr userDrawn="1"/>
        </p:nvSpPr>
        <p:spPr>
          <a:xfrm>
            <a:off x="5540795" y="6402633"/>
            <a:ext cx="4572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42F13953-B41B-AC4C-A0F2-428ABC2A8687}"/>
              </a:ext>
            </a:extLst>
          </p:cNvPr>
          <p:cNvSpPr txBox="1"/>
          <p:nvPr userDrawn="1"/>
        </p:nvSpPr>
        <p:spPr>
          <a:xfrm>
            <a:off x="9448800" y="6455377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©2019 Discover Financial Services</a:t>
            </a:r>
            <a:r>
              <a:rPr lang="en-US" sz="800" b="0" i="0">
                <a:solidFill>
                  <a:srgbClr val="00548A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 | </a:t>
            </a:r>
            <a:fld id="{EF786444-7F1B-AD45-868C-939B305E1CA0}" type="slidenum">
              <a:rPr lang="en-US" sz="800" b="0" i="0" smtClean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0" i="0">
              <a:solidFill>
                <a:srgbClr val="474747"/>
              </a:solidFill>
              <a:latin typeface="Meta Offc Pro Thin" panose="020B0404030101020102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0DB2860-4737-E243-BAAA-A7B5D68F3EF6}"/>
              </a:ext>
            </a:extLst>
          </p:cNvPr>
          <p:cNvSpPr/>
          <p:nvPr userDrawn="1"/>
        </p:nvSpPr>
        <p:spPr>
          <a:xfrm>
            <a:off x="422031" y="6295292"/>
            <a:ext cx="5673969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xmlns="" id="{BD3EC200-208D-4FE5-A8CB-978C89ADA001}"/>
              </a:ext>
            </a:extLst>
          </p:cNvPr>
          <p:cNvSpPr txBox="1">
            <a:spLocks/>
          </p:cNvSpPr>
          <p:nvPr userDrawn="1"/>
        </p:nvSpPr>
        <p:spPr>
          <a:xfrm>
            <a:off x="1650125" y="49924"/>
            <a:ext cx="10436771" cy="3573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48A"/>
              </a:buClr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None/>
              <a:defRPr sz="20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None/>
              <a:defRPr sz="1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None/>
              <a:defRPr sz="1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0662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bg1"/>
          </a:solidFill>
          <a:latin typeface="Futura Medium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48A"/>
        </a:buClr>
        <a:buFont typeface="Wingdings" pitchFamily="2" charset="2"/>
        <a:buChar char="§"/>
        <a:defRPr sz="2800" b="0" i="0" kern="1200">
          <a:solidFill>
            <a:srgbClr val="47474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48A"/>
        </a:buClr>
        <a:buFont typeface="Wingdings" pitchFamily="2" charset="2"/>
        <a:buChar char="§"/>
        <a:defRPr sz="2400" b="0" i="0" kern="1200">
          <a:solidFill>
            <a:srgbClr val="47474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48A"/>
        </a:buClr>
        <a:buFont typeface="Wingdings" pitchFamily="2" charset="2"/>
        <a:buChar char="§"/>
        <a:defRPr sz="2000" b="0" i="0" kern="1200">
          <a:solidFill>
            <a:srgbClr val="47474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48A"/>
        </a:buClr>
        <a:buFont typeface="Wingdings" pitchFamily="2" charset="2"/>
        <a:buChar char="§"/>
        <a:defRPr sz="1800" b="0" i="0" kern="1200">
          <a:solidFill>
            <a:srgbClr val="47474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48A"/>
        </a:buClr>
        <a:buFont typeface="Wingdings" pitchFamily="2" charset="2"/>
        <a:buChar char="§"/>
        <a:defRPr sz="1800" b="0" i="0" kern="1200">
          <a:solidFill>
            <a:srgbClr val="47474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">
          <p15:clr>
            <a:srgbClr val="F26B43"/>
          </p15:clr>
        </p15:guide>
        <p15:guide id="3" orient="horz" pos="3888">
          <p15:clr>
            <a:srgbClr val="F26B43"/>
          </p15:clr>
        </p15:guide>
        <p15:guide id="4" pos="7392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43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6E35B3B9-9732-8049-B290-ACB5725B1220}"/>
              </a:ext>
            </a:extLst>
          </p:cNvPr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05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6B5ED1-7D7B-D04E-B7DE-14CA68ECE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685800"/>
            <a:ext cx="11277600" cy="549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E011E822-35A1-B44E-A190-43A8F665DBB6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865" y="0"/>
            <a:ext cx="1256703" cy="4572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482FD2B6-6C20-2A4F-A6C0-A8390F6C0257}"/>
              </a:ext>
            </a:extLst>
          </p:cNvPr>
          <p:cNvCxnSpPr/>
          <p:nvPr userDrawn="1"/>
        </p:nvCxnSpPr>
        <p:spPr>
          <a:xfrm>
            <a:off x="1580839" y="114300"/>
            <a:ext cx="1" cy="2286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xmlns="" id="{ACAEB42B-2277-F044-BC41-37350DD28BBB}"/>
              </a:ext>
            </a:extLst>
          </p:cNvPr>
          <p:cNvSpPr/>
          <p:nvPr userDrawn="1"/>
        </p:nvSpPr>
        <p:spPr>
          <a:xfrm>
            <a:off x="468923" y="6402633"/>
            <a:ext cx="1371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Section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6808DE7C-377D-B647-83DD-5DC6DAE540F0}"/>
              </a:ext>
            </a:extLst>
          </p:cNvPr>
          <p:cNvSpPr/>
          <p:nvPr userDrawn="1"/>
        </p:nvSpPr>
        <p:spPr>
          <a:xfrm>
            <a:off x="1899959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xmlns="" id="{D2072102-0EE4-0743-ABDF-4988891E486C}"/>
              </a:ext>
            </a:extLst>
          </p:cNvPr>
          <p:cNvSpPr/>
          <p:nvPr userDrawn="1"/>
        </p:nvSpPr>
        <p:spPr>
          <a:xfrm>
            <a:off x="2187995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xmlns="" id="{977FBF24-1DB5-8844-A33F-706090C536E8}"/>
              </a:ext>
            </a:extLst>
          </p:cNvPr>
          <p:cNvSpPr/>
          <p:nvPr userDrawn="1"/>
        </p:nvSpPr>
        <p:spPr>
          <a:xfrm>
            <a:off x="2476031" y="6407396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xmlns="" id="{6E15B7A1-A30E-E942-BA37-4AEE56DDA1C8}"/>
              </a:ext>
            </a:extLst>
          </p:cNvPr>
          <p:cNvSpPr/>
          <p:nvPr userDrawn="1"/>
        </p:nvSpPr>
        <p:spPr>
          <a:xfrm>
            <a:off x="2764067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5FB21BB1-C7F4-7B4C-8CF0-316360F8B36D}"/>
              </a:ext>
            </a:extLst>
          </p:cNvPr>
          <p:cNvSpPr/>
          <p:nvPr userDrawn="1"/>
        </p:nvSpPr>
        <p:spPr>
          <a:xfrm>
            <a:off x="3052103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A6E6308B-F4E6-4A42-ACFD-F47A68E96D95}"/>
              </a:ext>
            </a:extLst>
          </p:cNvPr>
          <p:cNvSpPr/>
          <p:nvPr userDrawn="1"/>
        </p:nvSpPr>
        <p:spPr>
          <a:xfrm>
            <a:off x="3340139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EBA598B1-FE47-CC4B-95AC-AC0FF4C89DE3}"/>
              </a:ext>
            </a:extLst>
          </p:cNvPr>
          <p:cNvSpPr/>
          <p:nvPr userDrawn="1"/>
        </p:nvSpPr>
        <p:spPr>
          <a:xfrm>
            <a:off x="3628175" y="6407396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900D9D09-F1B2-5743-83E2-B6BAB6F04220}"/>
              </a:ext>
            </a:extLst>
          </p:cNvPr>
          <p:cNvSpPr/>
          <p:nvPr userDrawn="1"/>
        </p:nvSpPr>
        <p:spPr>
          <a:xfrm>
            <a:off x="3916211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xmlns="" id="{35D4E223-498C-F646-80B9-51582BA19014}"/>
              </a:ext>
            </a:extLst>
          </p:cNvPr>
          <p:cNvSpPr/>
          <p:nvPr userDrawn="1"/>
        </p:nvSpPr>
        <p:spPr>
          <a:xfrm>
            <a:off x="4214915" y="6402633"/>
            <a:ext cx="2286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xmlns="" id="{70EF8866-F017-D340-A3FD-4C8E65E8FB37}"/>
              </a:ext>
            </a:extLst>
          </p:cNvPr>
          <p:cNvSpPr/>
          <p:nvPr userDrawn="1"/>
        </p:nvSpPr>
        <p:spPr>
          <a:xfrm>
            <a:off x="4513619" y="6402633"/>
            <a:ext cx="4572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xmlns="" id="{7C28C36C-7EE0-EF49-9BE1-2778DA4C67BB}"/>
              </a:ext>
            </a:extLst>
          </p:cNvPr>
          <p:cNvSpPr/>
          <p:nvPr userDrawn="1"/>
        </p:nvSpPr>
        <p:spPr>
          <a:xfrm>
            <a:off x="5024159" y="6402633"/>
            <a:ext cx="4572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xmlns="" id="{03F686FD-B02D-8640-8A3B-596D3245AFB8}"/>
              </a:ext>
            </a:extLst>
          </p:cNvPr>
          <p:cNvSpPr/>
          <p:nvPr userDrawn="1"/>
        </p:nvSpPr>
        <p:spPr>
          <a:xfrm>
            <a:off x="5540795" y="6402633"/>
            <a:ext cx="457200" cy="228600"/>
          </a:xfrm>
          <a:prstGeom prst="roundRect">
            <a:avLst/>
          </a:prstGeom>
          <a:solidFill>
            <a:srgbClr val="F2F2F2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42F13953-B41B-AC4C-A0F2-428ABC2A8687}"/>
              </a:ext>
            </a:extLst>
          </p:cNvPr>
          <p:cNvSpPr txBox="1"/>
          <p:nvPr userDrawn="1"/>
        </p:nvSpPr>
        <p:spPr>
          <a:xfrm>
            <a:off x="9448800" y="6455377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©2019 Discover Financial Services</a:t>
            </a:r>
            <a:r>
              <a:rPr lang="en-US" sz="800" b="0" i="0">
                <a:solidFill>
                  <a:srgbClr val="00548A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t> | </a:t>
            </a:r>
            <a:fld id="{EF786444-7F1B-AD45-868C-939B305E1CA0}" type="slidenum">
              <a:rPr lang="en-US" sz="800" b="0" i="0" smtClean="0">
                <a:solidFill>
                  <a:srgbClr val="474747"/>
                </a:solidFill>
                <a:latin typeface="Meta Offc Pro Thin" panose="020B0404030101020102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0" i="0">
              <a:solidFill>
                <a:srgbClr val="474747"/>
              </a:solidFill>
              <a:latin typeface="Meta Offc Pro Thin" panose="020B0404030101020102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0DB2860-4737-E243-BAAA-A7B5D68F3EF6}"/>
              </a:ext>
            </a:extLst>
          </p:cNvPr>
          <p:cNvSpPr/>
          <p:nvPr userDrawn="1"/>
        </p:nvSpPr>
        <p:spPr>
          <a:xfrm>
            <a:off x="422031" y="6295292"/>
            <a:ext cx="5673969" cy="44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7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5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bg1"/>
          </a:solidFill>
          <a:latin typeface="Futura Medium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48A"/>
        </a:buClr>
        <a:buFont typeface="Wingdings" pitchFamily="2" charset="2"/>
        <a:buChar char="§"/>
        <a:defRPr sz="2800" b="0" i="0" kern="1200">
          <a:solidFill>
            <a:srgbClr val="47474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48A"/>
        </a:buClr>
        <a:buFont typeface="Wingdings" pitchFamily="2" charset="2"/>
        <a:buChar char="§"/>
        <a:defRPr sz="2400" b="0" i="0" kern="1200">
          <a:solidFill>
            <a:srgbClr val="47474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48A"/>
        </a:buClr>
        <a:buFont typeface="Wingdings" pitchFamily="2" charset="2"/>
        <a:buChar char="§"/>
        <a:defRPr sz="2000" b="0" i="0" kern="1200">
          <a:solidFill>
            <a:srgbClr val="47474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48A"/>
        </a:buClr>
        <a:buFont typeface="Wingdings" pitchFamily="2" charset="2"/>
        <a:buChar char="§"/>
        <a:defRPr sz="1800" b="0" i="0" kern="1200">
          <a:solidFill>
            <a:srgbClr val="47474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48A"/>
        </a:buClr>
        <a:buFont typeface="Wingdings" pitchFamily="2" charset="2"/>
        <a:buChar char="§"/>
        <a:defRPr sz="1800" b="0" i="0" kern="1200">
          <a:solidFill>
            <a:srgbClr val="47474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">
          <p15:clr>
            <a:srgbClr val="F26B43"/>
          </p15:clr>
        </p15:guide>
        <p15:guide id="3" orient="horz" pos="3888">
          <p15:clr>
            <a:srgbClr val="F26B43"/>
          </p15:clr>
        </p15:guide>
        <p15:guide id="4" pos="7392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43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Copyright © 2018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63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</p:sldLayoutIdLst>
  <p:hf hdr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20DD95C-F993-DD4D-94A2-844C26965F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Enterprise Technology</a:t>
            </a:r>
          </a:p>
          <a:p>
            <a:r>
              <a:rPr lang="en-US" b="1" dirty="0" smtClean="0"/>
              <a:t>Bank Data Operations Team</a:t>
            </a:r>
          </a:p>
          <a:p>
            <a:r>
              <a:rPr lang="en-US" b="1" dirty="0" smtClean="0"/>
              <a:t>May, 2019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9414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C3ECE91-15C0-C44B-ABA8-ED19260BDA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685800"/>
            <a:ext cx="11277600" cy="457200"/>
          </a:xfrm>
        </p:spPr>
        <p:txBody>
          <a:bodyPr/>
          <a:lstStyle/>
          <a:p>
            <a:r>
              <a:rPr lang="en-US" dirty="0" smtClean="0"/>
              <a:t>Agenda</a:t>
            </a:r>
          </a:p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xmlns="" id="{4C3ECE91-15C0-C44B-ABA8-ED19260BDABE}"/>
              </a:ext>
            </a:extLst>
          </p:cNvPr>
          <p:cNvSpPr txBox="1">
            <a:spLocks/>
          </p:cNvSpPr>
          <p:nvPr/>
        </p:nvSpPr>
        <p:spPr>
          <a:xfrm>
            <a:off x="457200" y="1222744"/>
            <a:ext cx="11277600" cy="54598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3200"/>
              </a:lnSpc>
              <a:spcBef>
                <a:spcPts val="1600"/>
              </a:spcBef>
              <a:buClr>
                <a:srgbClr val="00548A"/>
              </a:buClr>
              <a:buFont typeface="Wingdings" pitchFamily="2" charset="2"/>
              <a:buNone/>
              <a:defRPr sz="2800" b="0" i="0" kern="1200">
                <a:solidFill>
                  <a:srgbClr val="474747"/>
                </a:solidFill>
                <a:latin typeface="Meta Offc Pro Normal" panose="020B0504030101020102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2400" b="0" i="0" kern="1200">
                <a:solidFill>
                  <a:srgbClr val="474747"/>
                </a:solidFill>
                <a:latin typeface="Meta Offc Pro Normal" panose="020B0504030101020102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2000" b="0" i="0" kern="1200">
                <a:solidFill>
                  <a:srgbClr val="474747"/>
                </a:solidFill>
                <a:latin typeface="Meta Offc Pro Normal" panose="020B0504030101020102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1800" b="0" i="0" kern="1200">
                <a:solidFill>
                  <a:srgbClr val="474747"/>
                </a:solidFill>
                <a:latin typeface="Meta Offc Pro Normal" panose="020B0504030101020102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1800" b="0" i="0" kern="1200">
                <a:solidFill>
                  <a:srgbClr val="474747"/>
                </a:solidFill>
                <a:latin typeface="Meta Offc Pro Normal" panose="020B0504030101020102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Enterprise Technology Team Composition</a:t>
            </a:r>
            <a:endParaRPr lang="en-US" sz="1600" dirty="0">
              <a:latin typeface="Arial" panose="020B0604020202020204" pitchFamily="34" charset="0"/>
            </a:endParaRPr>
          </a:p>
          <a:p>
            <a:pPr marL="457200">
              <a:lnSpc>
                <a:spcPct val="100000"/>
              </a:lnSpc>
              <a:spcBef>
                <a:spcPts val="0"/>
              </a:spcBef>
            </a:pPr>
            <a:endParaRPr lang="en-US" sz="1600" dirty="0" smtClean="0">
              <a:latin typeface="Arial" panose="020B0604020202020204" pitchFamily="34" charset="0"/>
            </a:endParaRPr>
          </a:p>
          <a:p>
            <a:pPr marL="7429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  Discover Personal Loans / Discover Home Equity Loans / LOC / MAD / </a:t>
            </a:r>
            <a:r>
              <a:rPr lang="en-US" sz="1600" dirty="0" err="1" smtClean="0">
                <a:latin typeface="Arial" panose="020B0604020202020204" pitchFamily="34" charset="0"/>
              </a:rPr>
              <a:t>Neustar</a:t>
            </a:r>
            <a:endParaRPr lang="en-US" sz="1600" dirty="0" smtClean="0">
              <a:latin typeface="Arial" panose="020B0604020202020204" pitchFamily="34" charset="0"/>
            </a:endParaRP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Description of the Business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Team Composition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Goals</a:t>
            </a:r>
          </a:p>
          <a:p>
            <a:pPr lvl="1" indent="0">
              <a:buNone/>
            </a:pPr>
            <a:endParaRPr lang="en-US" sz="1400" dirty="0" smtClean="0">
              <a:latin typeface="Arial" panose="020B0604020202020204" pitchFamily="34" charset="0"/>
            </a:endParaRPr>
          </a:p>
          <a:p>
            <a:pPr marL="7429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  Discover Student Loans</a:t>
            </a:r>
            <a:endParaRPr lang="en-US" sz="1600" dirty="0">
              <a:latin typeface="Arial" panose="020B0604020202020204" pitchFamily="34" charset="0"/>
            </a:endParaRP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Description of the Business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Team </a:t>
            </a:r>
            <a:r>
              <a:rPr lang="en-US" sz="1400" dirty="0" smtClean="0">
                <a:latin typeface="Arial" panose="020B0604020202020204" pitchFamily="34" charset="0"/>
              </a:rPr>
              <a:t>Composition</a:t>
            </a:r>
            <a:endParaRPr lang="en-US" sz="1400" dirty="0">
              <a:latin typeface="Arial" panose="020B0604020202020204" pitchFamily="34" charset="0"/>
            </a:endParaRP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Goals</a:t>
            </a:r>
          </a:p>
          <a:p>
            <a:pPr marL="971550" lvl="1" indent="-285750"/>
            <a:endParaRPr lang="en-US" sz="1600" dirty="0" smtClean="0">
              <a:latin typeface="Arial" panose="020B0604020202020204" pitchFamily="34" charset="0"/>
            </a:endParaRPr>
          </a:p>
          <a:p>
            <a:pPr marL="7429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  Deposits </a:t>
            </a:r>
            <a:r>
              <a:rPr lang="en-US" sz="1600" dirty="0">
                <a:latin typeface="Arial" panose="020B0604020202020204" pitchFamily="34" charset="0"/>
              </a:rPr>
              <a:t>/ </a:t>
            </a:r>
            <a:r>
              <a:rPr lang="en-US" sz="1600" dirty="0" smtClean="0">
                <a:latin typeface="Arial" panose="020B0604020202020204" pitchFamily="34" charset="0"/>
              </a:rPr>
              <a:t>Deposits Fraud </a:t>
            </a:r>
            <a:r>
              <a:rPr lang="en-US" sz="1600" dirty="0">
                <a:latin typeface="Arial" panose="020B0604020202020204" pitchFamily="34" charset="0"/>
              </a:rPr>
              <a:t>/ </a:t>
            </a:r>
            <a:r>
              <a:rPr lang="en-US" sz="1600" dirty="0" smtClean="0">
                <a:latin typeface="Arial" panose="020B0604020202020204" pitchFamily="34" charset="0"/>
              </a:rPr>
              <a:t>FODS</a:t>
            </a:r>
            <a:endParaRPr lang="en-US" sz="1600" dirty="0">
              <a:latin typeface="Arial" panose="020B0604020202020204" pitchFamily="34" charset="0"/>
            </a:endParaRP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Description of the Business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Team </a:t>
            </a:r>
            <a:r>
              <a:rPr lang="en-US" sz="1400" dirty="0" smtClean="0">
                <a:latin typeface="Arial" panose="020B0604020202020204" pitchFamily="34" charset="0"/>
              </a:rPr>
              <a:t>Composition</a:t>
            </a:r>
            <a:endParaRPr lang="en-US" sz="1400" dirty="0">
              <a:latin typeface="Arial" panose="020B0604020202020204" pitchFamily="34" charset="0"/>
            </a:endParaRP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Goals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endParaRPr lang="en-US" sz="1400" dirty="0" smtClean="0">
              <a:latin typeface="Arial" panose="020B0604020202020204" pitchFamily="34" charset="0"/>
            </a:endParaRPr>
          </a:p>
          <a:p>
            <a:pPr marL="7429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 Bank Data Ops Technology / Performance </a:t>
            </a:r>
          </a:p>
          <a:p>
            <a:pPr marL="7429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 dirty="0" smtClean="0">
              <a:latin typeface="Arial" panose="020B0604020202020204" pitchFamily="34" charset="0"/>
            </a:endParaRPr>
          </a:p>
          <a:p>
            <a:pPr marL="7429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</a:rPr>
              <a:t> </a:t>
            </a:r>
            <a:r>
              <a:rPr lang="en-US" sz="1600" dirty="0" smtClean="0">
                <a:latin typeface="Arial" panose="020B0604020202020204" pitchFamily="34" charset="0"/>
              </a:rPr>
              <a:t>Work</a:t>
            </a:r>
            <a:endParaRPr lang="en-US" sz="1400" dirty="0">
              <a:latin typeface="Arial" panose="020B0604020202020204" pitchFamily="34" charset="0"/>
            </a:endParaRPr>
          </a:p>
          <a:p>
            <a:pPr lvl="1" indent="0">
              <a:buNone/>
            </a:pPr>
            <a:endParaRPr lang="en-US" sz="1400" dirty="0">
              <a:latin typeface="Arial" panose="020B0604020202020204" pitchFamily="34" charset="0"/>
            </a:endParaRPr>
          </a:p>
          <a:p>
            <a:pPr lvl="1" indent="0">
              <a:buNone/>
            </a:pPr>
            <a:endParaRPr lang="en-US" sz="1400" dirty="0">
              <a:latin typeface="Arial" panose="020B0604020202020204" pitchFamily="34" charset="0"/>
            </a:endParaRP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90638" y="31898"/>
            <a:ext cx="5909624" cy="43942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Enterprise Technology Data Operations</a:t>
            </a:r>
            <a:endParaRPr lang="en-US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764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Enterprise Technology Data Operations</a:t>
            </a:r>
            <a:endParaRPr lang="en-US" sz="2000" b="1" dirty="0"/>
          </a:p>
        </p:txBody>
      </p:sp>
      <p:sp>
        <p:nvSpPr>
          <p:cNvPr id="15" name="Title 2"/>
          <p:cNvSpPr txBox="1">
            <a:spLocks/>
          </p:cNvSpPr>
          <p:nvPr/>
        </p:nvSpPr>
        <p:spPr>
          <a:xfrm>
            <a:off x="345440" y="724820"/>
            <a:ext cx="8229600" cy="853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0" i="0" kern="1200">
                <a:solidFill>
                  <a:schemeClr val="bg1"/>
                </a:solidFill>
                <a:latin typeface="Futura Medium" pitchFamily="2" charset="0"/>
                <a:ea typeface="+mj-ea"/>
                <a:cs typeface="+mj-cs"/>
              </a:defRPr>
            </a:lvl1pPr>
          </a:lstStyle>
          <a:p>
            <a:endParaRPr lang="en-US" sz="2000">
              <a:solidFill>
                <a:schemeClr val="tx1"/>
              </a:solidFill>
            </a:endParaRPr>
          </a:p>
          <a:p>
            <a:endParaRPr lang="en-US" sz="2000">
              <a:solidFill>
                <a:schemeClr val="tx1"/>
              </a:solidFill>
            </a:endParaRPr>
          </a:p>
          <a:p>
            <a:endParaRPr lang="en-US" sz="200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xmlns="" id="{44FF7ADD-868E-9B45-AC91-1C2D61BB3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7978627"/>
              </p:ext>
            </p:extLst>
          </p:nvPr>
        </p:nvGraphicFramePr>
        <p:xfrm>
          <a:off x="114299" y="596250"/>
          <a:ext cx="11972597" cy="6203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957">
                  <a:extLst>
                    <a:ext uri="{9D8B030D-6E8A-4147-A177-3AD203B41FA5}">
                      <a16:colId xmlns:a16="http://schemas.microsoft.com/office/drawing/2014/main" xmlns="" val="688493967"/>
                    </a:ext>
                  </a:extLst>
                </a:gridCol>
                <a:gridCol w="2494168">
                  <a:extLst>
                    <a:ext uri="{9D8B030D-6E8A-4147-A177-3AD203B41FA5}">
                      <a16:colId xmlns:a16="http://schemas.microsoft.com/office/drawing/2014/main" xmlns="" val="2824392273"/>
                    </a:ext>
                  </a:extLst>
                </a:gridCol>
                <a:gridCol w="1953789"/>
                <a:gridCol w="2157599"/>
                <a:gridCol w="2166304"/>
                <a:gridCol w="2251780"/>
              </a:tblGrid>
              <a:tr h="768178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endParaRPr lang="en-US" sz="1050" b="1" dirty="0">
                        <a:solidFill>
                          <a:schemeClr val="bg1"/>
                        </a:solidFill>
                        <a:latin typeface="Meta Offc Pro Normal" panose="020B0504030101020102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Rupa Narayan</a:t>
                      </a:r>
                    </a:p>
                    <a:p>
                      <a:pPr algn="ctr"/>
                      <a:r>
                        <a:rPr lang="en-US" sz="1050" b="1" kern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Director, Bank Data Ops</a:t>
                      </a:r>
                      <a:endParaRPr lang="en-US" sz="1050" b="1" kern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Jingsi Xia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Director, Payment Data Ops</a:t>
                      </a: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Mark Ames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Director, Finance Systems Development</a:t>
                      </a: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Todd Bruns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Director, Corporate Systems Development</a:t>
                      </a: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Chris Hardman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Director, Data Support</a:t>
                      </a:r>
                      <a:endParaRPr kumimoji="0" lang="en-US" sz="105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9321400"/>
                  </a:ext>
                </a:extLst>
              </a:tr>
              <a:tr h="1208106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Focus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transformation development and management for Bank Value Streams: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630936" marR="0" lvl="1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Calibri" panose="020F0502020204030204" pitchFamily="34" charset="0"/>
                        <a:buChar char="‐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DPL/DHE </a:t>
                      </a:r>
                    </a:p>
                    <a:p>
                      <a:pPr marL="630936" marR="0" lvl="1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Calibri" panose="020F0502020204030204" pitchFamily="34" charset="0"/>
                        <a:buChar char="‐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DSL</a:t>
                      </a:r>
                    </a:p>
                    <a:p>
                      <a:pPr marL="630936" marR="0" lvl="1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Calibri" panose="020F0502020204030204" pitchFamily="34" charset="0"/>
                        <a:buChar char="‐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Deposits</a:t>
                      </a:r>
                    </a:p>
                    <a:p>
                      <a:pPr marL="630936" marR="0" lvl="1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Calibri" panose="020F0502020204030204" pitchFamily="34" charset="0"/>
                        <a:buChar char="‐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Marketing Analytics Database (MAD)</a:t>
                      </a:r>
                    </a:p>
                    <a:p>
                      <a:pPr marL="630936" marR="0" lvl="1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Calibri" panose="020F0502020204030204" pitchFamily="34" charset="0"/>
                        <a:buChar char="‐"/>
                        <a:tabLst/>
                        <a:defRPr/>
                      </a:pP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Neustar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(DSDK)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transformation development and management for Payments business unit 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endParaRPr lang="en-US" sz="8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Meta Offc Pro Normal" panose="020B0504030101020102" pitchFamily="34" charset="0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Finance systems development and management (Finance Modernization, 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CECL, CCAR, etc.)</a:t>
                      </a:r>
                      <a:endParaRPr lang="en-US" sz="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transformation development and management for Finance staff group</a:t>
                      </a:r>
                      <a:endParaRPr lang="en-US" sz="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transformation development and management for AML, Risk, Audit, Compliance, H, BT Cyber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L1 production support for all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data ops</a:t>
                      </a:r>
                      <a:endParaRPr lang="en-US" sz="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L1 production support ET applications 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Delivery process 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standardization and process improvement </a:t>
                      </a:r>
                      <a:endParaRPr lang="en-US" sz="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ETL Tools Product Owner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837511"/>
                  </a:ext>
                </a:extLst>
              </a:tr>
              <a:tr h="884981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Stakeholders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Cloud data platform teams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Enterprise planning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Bank Value Streams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Cloud data platform teams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Enterprise planning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Payments Value Streams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Cloud data platform teams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Enterprise planning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Finance, Treasury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Cloud data platform teams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Enterprise planning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AML, Risk, Audit, Compliance, HR, Cyber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Cloud data platform teams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Enterprise planning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Ops teams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 application teams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SDLC team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395314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Senior Managers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Suresh Appavu, Sr. </a:t>
                      </a: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– DPL/DHE Data Ops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Alice Bodner, Sr. </a:t>
                      </a: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– DSL Data Ops 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Samantha Liu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Sr. </a:t>
                      </a:r>
                      <a:r>
                        <a:rPr lang="en-US" sz="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Deposits Data Ops </a:t>
                      </a:r>
                    </a:p>
                    <a:p>
                      <a:pPr marL="171450" marR="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u="none" strike="noStrike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Lakshmi Puttagunta,  Sr. Principal Business Architect 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Suganya Prathap, Sr. Principal IT Project </a:t>
                      </a:r>
                      <a:r>
                        <a:rPr lang="en-US" sz="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endParaRPr lang="en-US" sz="8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Radhika Srinivasan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Sr. </a:t>
                      </a:r>
                      <a:r>
                        <a:rPr lang="en-US" sz="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Payments Data Ops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Cindy Bai, Sr. Principle Business Architect</a:t>
                      </a:r>
                      <a:endParaRPr lang="en-US" sz="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Mike </a:t>
                      </a: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Foye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Sr. </a:t>
                      </a: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– Finance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Distributed Apps</a:t>
                      </a:r>
                      <a:endParaRPr lang="en-US" sz="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Beth Young,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Sr. </a:t>
                      </a: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– Finance Modernization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Mark Goldstone, Sr. </a:t>
                      </a: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 Finance Gen Account Aps</a:t>
                      </a:r>
                      <a:endParaRPr lang="en-US" sz="800" kern="1200" baseline="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Karen Duckett – Sr.  </a:t>
                      </a:r>
                      <a:r>
                        <a:rPr lang="en-US" sz="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– Finance Data and Reporting</a:t>
                      </a:r>
                      <a:endParaRPr lang="en-US" sz="800" kern="1200" baseline="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Brian Hatfield,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Sr. </a:t>
                      </a:r>
                      <a:r>
                        <a:rPr lang="en-US" sz="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– CRM Data Ops</a:t>
                      </a:r>
                      <a:endParaRPr lang="en-US" sz="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Vivek Gupta,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Sr. </a:t>
                      </a:r>
                      <a:r>
                        <a:rPr lang="en-US" sz="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– Corporate Systems Enterprise Applications</a:t>
                      </a:r>
                      <a:endParaRPr lang="en-US" sz="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Bina Varghese, Sr. </a:t>
                      </a: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– Enterprise Corporate Data Ops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Kalle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Kittelson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Sr. </a:t>
                      </a: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Robotic Process Automation (RPA)</a:t>
                      </a: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Govind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RaghunathapuramSrinivasan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- Sr. Principle Bus Architect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Tom Rogers, Sr. </a:t>
                      </a: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L1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Prod Support for Data Ops </a:t>
                      </a:r>
                      <a:endParaRPr lang="en-US" sz="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Open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Sr. </a:t>
                      </a:r>
                      <a:r>
                        <a:rPr lang="en-US" sz="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L1 Prod Support – ET Apps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4426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 # FTE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29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16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22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41</a:t>
                      </a:r>
                      <a:endParaRPr 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6532120"/>
                  </a:ext>
                </a:extLst>
              </a:tr>
              <a:tr h="384426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# Open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0</a:t>
                      </a:r>
                      <a:endParaRPr 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0</a:t>
                      </a:r>
                      <a:endParaRPr 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sz="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4</a:t>
                      </a:r>
                      <a:endParaRPr 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1</a:t>
                      </a:r>
                      <a:endParaRPr 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84426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#</a:t>
                      </a:r>
                      <a:r>
                        <a:rPr lang="en-US" sz="1050" b="1" baseline="0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 FTC</a:t>
                      </a:r>
                      <a:endParaRPr lang="en-US" sz="1050" b="1" dirty="0" smtClean="0">
                        <a:solidFill>
                          <a:srgbClr val="474747"/>
                        </a:solidFill>
                        <a:latin typeface="Meta Offc Pro Normal" panose="020B0504030101020102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77</a:t>
                      </a:r>
                      <a:endParaRPr 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en-US" sz="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104</a:t>
                      </a:r>
                      <a:endParaRPr 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151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752334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Scrum Master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Peggy Rivera (DPL/DHE), Harjeet Singh (DSL), Dhruv Mehta (Deposits, Deposits Fraud), Suganya Prathap (MAD)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Architect:  Erin Rice (Deposits</a:t>
                      </a:r>
                      <a:r>
                        <a:rPr lang="en-US" sz="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Fraud)</a:t>
                      </a:r>
                      <a:endParaRPr lang="en-US" sz="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Sam </a:t>
                      </a: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Serdar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(DCS), Melissa </a:t>
                      </a: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Bichler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(EPP), Zoe Baker (Starts Summer 2019)</a:t>
                      </a:r>
                    </a:p>
                    <a:p>
                      <a:endParaRPr lang="en-US" sz="800" dirty="0"/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Nicole McGee, Vito Alfano, Karen </a:t>
                      </a: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Kasprzycki</a:t>
                      </a: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Sharon Malott, Latasha </a:t>
                      </a:r>
                      <a:r>
                        <a:rPr lang="en-US" sz="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Hollingshed</a:t>
                      </a:r>
                      <a:endParaRPr lang="en-US" sz="8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Sarah Reid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None at this time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Meta Offc Pro Normal" panose="020B0504030101020102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5743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Bank Data Operations Teams</a:t>
            </a:r>
            <a:endParaRPr lang="en-US" sz="2000" b="1" dirty="0"/>
          </a:p>
        </p:txBody>
      </p:sp>
      <p:sp>
        <p:nvSpPr>
          <p:cNvPr id="15" name="Title 2"/>
          <p:cNvSpPr txBox="1">
            <a:spLocks/>
          </p:cNvSpPr>
          <p:nvPr/>
        </p:nvSpPr>
        <p:spPr>
          <a:xfrm>
            <a:off x="345440" y="724820"/>
            <a:ext cx="8229600" cy="853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0" i="0" kern="1200">
                <a:solidFill>
                  <a:schemeClr val="bg1"/>
                </a:solidFill>
                <a:latin typeface="Futura Medium" pitchFamily="2" charset="0"/>
                <a:ea typeface="+mj-ea"/>
                <a:cs typeface="+mj-cs"/>
              </a:defRPr>
            </a:lvl1pPr>
          </a:lstStyle>
          <a:p>
            <a:endParaRPr lang="en-US" sz="2000">
              <a:solidFill>
                <a:schemeClr val="tx1"/>
              </a:solidFill>
            </a:endParaRPr>
          </a:p>
          <a:p>
            <a:endParaRPr lang="en-US" sz="2000">
              <a:solidFill>
                <a:schemeClr val="tx1"/>
              </a:solidFill>
            </a:endParaRPr>
          </a:p>
          <a:p>
            <a:endParaRPr lang="en-US" sz="200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xmlns="" id="{44FF7ADD-868E-9B45-AC91-1C2D61BB3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6641705"/>
              </p:ext>
            </p:extLst>
          </p:nvPr>
        </p:nvGraphicFramePr>
        <p:xfrm>
          <a:off x="127592" y="522801"/>
          <a:ext cx="11959304" cy="6247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744">
                  <a:extLst>
                    <a:ext uri="{9D8B030D-6E8A-4147-A177-3AD203B41FA5}">
                      <a16:colId xmlns:a16="http://schemas.microsoft.com/office/drawing/2014/main" xmlns="" val="688493967"/>
                    </a:ext>
                  </a:extLst>
                </a:gridCol>
                <a:gridCol w="2105246">
                  <a:extLst>
                    <a:ext uri="{9D8B030D-6E8A-4147-A177-3AD203B41FA5}">
                      <a16:colId xmlns:a16="http://schemas.microsoft.com/office/drawing/2014/main" xmlns="" val="2824392273"/>
                    </a:ext>
                  </a:extLst>
                </a:gridCol>
                <a:gridCol w="2062933"/>
                <a:gridCol w="2094398"/>
                <a:gridCol w="2124476"/>
                <a:gridCol w="2349507"/>
              </a:tblGrid>
              <a:tr h="678922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endParaRPr lang="en-US" sz="1050" b="1" dirty="0">
                        <a:solidFill>
                          <a:schemeClr val="bg1"/>
                        </a:solidFill>
                        <a:latin typeface="Meta Offc Pro Normal" panose="020B0504030101020102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Suresh Appavu, Sr.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50" b="1" baseline="0" dirty="0" err="1" smtClean="0">
                          <a:solidFill>
                            <a:schemeClr val="bg1"/>
                          </a:solidFill>
                          <a:latin typeface="+mn-lt"/>
                        </a:rPr>
                        <a:t>Mgr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Discover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 Personal Loans (D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PL)</a:t>
                      </a:r>
                      <a:endParaRPr lang="en-US" sz="105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Suresh Appavu, Sr. </a:t>
                      </a:r>
                      <a:r>
                        <a:rPr lang="en-US" sz="1050" b="1" dirty="0" err="1" smtClean="0">
                          <a:solidFill>
                            <a:schemeClr val="bg1"/>
                          </a:solidFill>
                          <a:latin typeface="+mn-lt"/>
                        </a:rPr>
                        <a:t>Mgr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, Discover Home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 Equity (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DHE)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Suresh Appavu, Sr. </a:t>
                      </a:r>
                      <a:r>
                        <a:rPr lang="en-US" sz="1050" b="1" dirty="0" err="1" smtClean="0">
                          <a:solidFill>
                            <a:schemeClr val="bg1"/>
                          </a:solidFill>
                          <a:latin typeface="+mn-lt"/>
                        </a:rPr>
                        <a:t>Mgr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,   Line of Credit (LOC)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Suresh Appavu, Sr. </a:t>
                      </a:r>
                      <a:r>
                        <a:rPr lang="en-US" sz="1050" b="1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Mgr</a:t>
                      </a:r>
                      <a:r>
                        <a:rPr lang="en-US" sz="105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       Marketing Analytics Database (MAD) /</a:t>
                      </a:r>
                      <a:r>
                        <a:rPr lang="en-US" sz="105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Neustar 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(DSDK)</a:t>
                      </a:r>
                      <a:endParaRPr lang="en-US" sz="105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Alice Bodner, Sr. </a:t>
                      </a:r>
                      <a:r>
                        <a:rPr lang="en-US" sz="1050" b="1" dirty="0" err="1" smtClean="0">
                          <a:solidFill>
                            <a:schemeClr val="bg1"/>
                          </a:solidFill>
                          <a:latin typeface="+mn-lt"/>
                        </a:rPr>
                        <a:t>Mgr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, Discover Student Loans (DSL)</a:t>
                      </a:r>
                      <a:endParaRPr lang="en-US" sz="105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9321400"/>
                  </a:ext>
                </a:extLst>
              </a:tr>
              <a:tr h="1609462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Focus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Originations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Servicing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Collection &amp; Recovery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Credit Bureau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MIS/Credit Risk Analytics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Fraud</a:t>
                      </a: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 Analytics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Originations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Servicing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Collection &amp; Recovery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Credit Bureau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MIS/Credit Risk Analytics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endParaRPr lang="en-US" sz="105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Char char="§"/>
                      </a:pPr>
                      <a:r>
                        <a:rPr lang="en-US" sz="105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Cover inadvertent OD by advancing the funds needed in Checking AC from ODP LOC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Char char="§"/>
                      </a:pPr>
                      <a:r>
                        <a:rPr lang="en-US" sz="105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Interest APR lower than other short term debt alternatives</a:t>
                      </a:r>
                      <a:endParaRPr lang="en-US" sz="105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Char char="§"/>
                      </a:pPr>
                      <a:r>
                        <a:rPr lang="en-US" sz="105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Broad Market Analytics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Char char="§"/>
                      </a:pPr>
                      <a:r>
                        <a:rPr lang="en-US" sz="105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Portfolio Analytics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Char char="§"/>
                      </a:pPr>
                      <a:r>
                        <a:rPr lang="en-US" sz="105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Portfolio/Cross-Sell Campaign Management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Marketing Campaign Performance Tracking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Federal</a:t>
                      </a: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 Household Mapping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Char char="§"/>
                      </a:pP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Audience Syndication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Originations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Servicing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Collection &amp; Recovery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Credit Bureau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MIS/Credit Risk Analytics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837511"/>
                  </a:ext>
                </a:extLst>
              </a:tr>
              <a:tr h="407017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FTE</a:t>
                      </a:r>
                      <a:r>
                        <a:rPr lang="en-US" sz="1050" b="1" baseline="0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 </a:t>
                      </a:r>
                      <a:endParaRPr lang="en-US" sz="1050" b="1" dirty="0" smtClean="0">
                        <a:solidFill>
                          <a:srgbClr val="474747"/>
                        </a:solidFill>
                        <a:latin typeface="Meta Offc Pro Normal" panose="020B0504030101020102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1 (Visa Trans in-progress)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7, 1 TBH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9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6532120"/>
                  </a:ext>
                </a:extLst>
              </a:tr>
              <a:tr h="388593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ADC 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2:4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0:1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  <a:endParaRPr lang="en-US" sz="105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NA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2:9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88593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Surge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1:3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0:1</a:t>
                      </a:r>
                      <a:endParaRPr lang="en-US" sz="105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5:11</a:t>
                      </a:r>
                      <a:endParaRPr lang="en-US" sz="105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NA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4:23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98358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Scrum Master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Margaret(Peggy) Rivera</a:t>
                      </a:r>
                      <a:endParaRPr lang="en-US" sz="105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Margaret(Peggy) Rivera</a:t>
                      </a:r>
                      <a:endParaRPr lang="en-US" sz="105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Dipti Wangu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TBD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Harjeet Singh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490043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Business </a:t>
                      </a:r>
                      <a:r>
                        <a:rPr lang="en-US" sz="1050" b="1" dirty="0" err="1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Parrtners</a:t>
                      </a: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/Product Owner</a:t>
                      </a:r>
                      <a:endParaRPr lang="en-US" sz="1050" b="1" dirty="0">
                        <a:solidFill>
                          <a:srgbClr val="474747"/>
                        </a:solidFill>
                        <a:latin typeface="Meta Offc Pro Normal" panose="020B0504030101020102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SVP – Samir Patel, Steve Dickerson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Director - Steven Trybus, </a:t>
                      </a:r>
                      <a:r>
                        <a:rPr lang="en-US" sz="900" kern="12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Viabhav</a:t>
                      </a:r>
                      <a:r>
                        <a:rPr lang="en-US" sz="90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Bhatt, Rejo Mathew, Arthur Page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Product Owner – Sarita</a:t>
                      </a:r>
                      <a:r>
                        <a:rPr lang="en-US" sz="90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Pinto</a:t>
                      </a:r>
                      <a:endParaRPr lang="en-US" sz="9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SVP - PK Parekh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Director - Stoyan Vlaikov, Rejo Mathew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Product Owner - Anton</a:t>
                      </a:r>
                      <a:r>
                        <a:rPr lang="en-US" sz="90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Roussev</a:t>
                      </a:r>
                      <a:endParaRPr lang="en-US" sz="90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VP – Kevin Chanashing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Director – Brian Wynn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Product</a:t>
                      </a:r>
                      <a:r>
                        <a:rPr lang="en-US" sz="9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 Owner – Mark Leszczynski</a:t>
                      </a:r>
                      <a:endParaRPr lang="en-US" sz="9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TBD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9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SVP - Katherine</a:t>
                      </a:r>
                      <a:r>
                        <a:rPr lang="en-US" sz="9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 Manfred, Steve Dickerson</a:t>
                      </a:r>
                    </a:p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9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VP – Nicole Straub, Kevin Chanashing, Krishnan Srinivasan, Vivek </a:t>
                      </a:r>
                      <a:r>
                        <a:rPr lang="en-US" sz="9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Padmanaban</a:t>
                      </a:r>
                      <a:endParaRPr lang="en-US" sz="9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9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Director – Heather Thompson, Barbara Vanbramer, Abhishek Yadav, Rejo Mathew, Neil Ni, Mike </a:t>
                      </a:r>
                      <a:r>
                        <a:rPr lang="en-US" sz="9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Sofranko</a:t>
                      </a:r>
                      <a:endParaRPr lang="en-US" sz="9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9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Product Owner – Alex Payne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45611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Technology</a:t>
                      </a:r>
                      <a:r>
                        <a:rPr lang="en-US" sz="1050" b="1" baseline="0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 Stakeholders</a:t>
                      </a:r>
                      <a:endParaRPr lang="en-US" sz="1050" b="1" dirty="0">
                        <a:solidFill>
                          <a:srgbClr val="474747"/>
                        </a:solidFill>
                        <a:latin typeface="Meta Offc Pro Normal" panose="020B0504030101020102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Rupa</a:t>
                      </a:r>
                      <a:r>
                        <a:rPr lang="en-US" sz="90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 Narayan - ET Bank Data Ops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Cindy Deyhle, Dave Bulgart – App Development</a:t>
                      </a:r>
                      <a:endParaRPr lang="en-US" sz="9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Rupa</a:t>
                      </a:r>
                      <a:r>
                        <a:rPr lang="en-US" sz="90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 Narayan - ET Bank Data Ops</a:t>
                      </a:r>
                      <a:endParaRPr lang="en-US" sz="900" b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Rupa</a:t>
                      </a:r>
                      <a:r>
                        <a:rPr lang="en-US" sz="90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 Narayan – ET Bank Data Ops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Valeria Utsis – App Development</a:t>
                      </a:r>
                      <a:endParaRPr lang="en-US" sz="9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Rupa</a:t>
                      </a:r>
                      <a:r>
                        <a:rPr lang="en-US" sz="90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 Narayan – ET Bank Data Ops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Rupa</a:t>
                      </a:r>
                      <a:r>
                        <a:rPr lang="en-US" sz="90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 Narayan - ET Bank Data Ops</a:t>
                      </a:r>
                      <a:endParaRPr lang="en-US" sz="900" b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9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Valeria Utsis, Dave Bulgart – App Development</a:t>
                      </a:r>
                      <a:endParaRPr lang="en-US" sz="9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308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Bank Data Operations Teams</a:t>
            </a:r>
            <a:endParaRPr lang="en-US" sz="2000" b="1" dirty="0"/>
          </a:p>
        </p:txBody>
      </p:sp>
      <p:sp>
        <p:nvSpPr>
          <p:cNvPr id="15" name="Title 2"/>
          <p:cNvSpPr txBox="1">
            <a:spLocks/>
          </p:cNvSpPr>
          <p:nvPr/>
        </p:nvSpPr>
        <p:spPr>
          <a:xfrm>
            <a:off x="345440" y="724820"/>
            <a:ext cx="8229600" cy="8534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0" i="0" kern="1200">
                <a:solidFill>
                  <a:schemeClr val="bg1"/>
                </a:solidFill>
                <a:latin typeface="Futura Medium" pitchFamily="2" charset="0"/>
                <a:ea typeface="+mj-ea"/>
                <a:cs typeface="+mj-cs"/>
              </a:defRPr>
            </a:lvl1pPr>
          </a:lstStyle>
          <a:p>
            <a:endParaRPr lang="en-US" sz="2000">
              <a:solidFill>
                <a:schemeClr val="tx1"/>
              </a:solidFill>
            </a:endParaRPr>
          </a:p>
          <a:p>
            <a:endParaRPr lang="en-US" sz="2000">
              <a:solidFill>
                <a:schemeClr val="tx1"/>
              </a:solidFill>
            </a:endParaRPr>
          </a:p>
          <a:p>
            <a:endParaRPr lang="en-US" sz="200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xmlns="" id="{44FF7ADD-868E-9B45-AC91-1C2D61BB3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8305314"/>
              </p:ext>
            </p:extLst>
          </p:nvPr>
        </p:nvGraphicFramePr>
        <p:xfrm>
          <a:off x="1523221" y="566820"/>
          <a:ext cx="8376328" cy="6137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741">
                  <a:extLst>
                    <a:ext uri="{9D8B030D-6E8A-4147-A177-3AD203B41FA5}">
                      <a16:colId xmlns:a16="http://schemas.microsoft.com/office/drawing/2014/main" xmlns="" val="688493967"/>
                    </a:ext>
                  </a:extLst>
                </a:gridCol>
                <a:gridCol w="2335563">
                  <a:extLst>
                    <a:ext uri="{9D8B030D-6E8A-4147-A177-3AD203B41FA5}">
                      <a16:colId xmlns:a16="http://schemas.microsoft.com/office/drawing/2014/main" xmlns="" val="2824392273"/>
                    </a:ext>
                  </a:extLst>
                </a:gridCol>
                <a:gridCol w="2267712"/>
                <a:gridCol w="2496312"/>
              </a:tblGrid>
              <a:tr h="723009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endParaRPr lang="en-US" sz="1050" b="1" dirty="0">
                        <a:solidFill>
                          <a:schemeClr val="bg1"/>
                        </a:solidFill>
                        <a:latin typeface="Meta Offc Pro Normal" panose="020B0504030101020102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Samantha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 Liu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, Sr.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50" b="1" baseline="0" dirty="0" err="1" smtClean="0">
                          <a:solidFill>
                            <a:schemeClr val="bg1"/>
                          </a:solidFill>
                          <a:latin typeface="+mn-lt"/>
                        </a:rPr>
                        <a:t>Mgr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Deposits</a:t>
                      </a:r>
                      <a:endParaRPr lang="en-US" sz="105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Samantha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 Liu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, Sr.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50" b="1" baseline="0" dirty="0" err="1" smtClean="0">
                          <a:solidFill>
                            <a:schemeClr val="bg1"/>
                          </a:solidFill>
                          <a:latin typeface="+mn-lt"/>
                        </a:rPr>
                        <a:t>Mgr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Deposits Fraud</a:t>
                      </a:r>
                      <a:endParaRPr lang="en-US" sz="105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Samantha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 Liu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, Sr.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50" b="1" baseline="0" dirty="0" err="1" smtClean="0">
                          <a:solidFill>
                            <a:schemeClr val="bg1"/>
                          </a:solidFill>
                          <a:latin typeface="+mn-lt"/>
                        </a:rPr>
                        <a:t>Mgr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  <a:latin typeface="+mn-lt"/>
                        </a:rPr>
                        <a:t>, FODS</a:t>
                      </a:r>
                      <a:endParaRPr lang="en-US" sz="105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9321400"/>
                  </a:ext>
                </a:extLst>
              </a:tr>
              <a:tr h="1771131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Focus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Originations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Servicing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Cash Edge/Pep +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Brokered/Non-Brokered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Account Center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Debit Cards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Campaign Data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Daily Summary tables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Finacle</a:t>
                      </a: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 near-real time</a:t>
                      </a:r>
                      <a:endParaRPr lang="en-US" sz="105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3</a:t>
                      </a:r>
                      <a:r>
                        <a:rPr lang="en-US" sz="1050" baseline="300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rd</a:t>
                      </a: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 party vendor – Threat Metrix, Lexis Nexis, Bill Pay, </a:t>
                      </a:r>
                      <a:r>
                        <a:rPr lang="en-US" sz="105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Neustar</a:t>
                      </a: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, Experian, </a:t>
                      </a:r>
                      <a:r>
                        <a:rPr lang="en-US" sz="105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Vantiv</a:t>
                      </a: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, etc.</a:t>
                      </a:r>
                      <a:endParaRPr lang="en-US" sz="105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Calypso</a:t>
                      </a: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 referrals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Almanac, Docu</a:t>
                      </a: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mentum</a:t>
                      </a: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 data</a:t>
                      </a:r>
                    </a:p>
                    <a:p>
                      <a:pPr marL="171450" indent="-17145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Blaze Decision Engine application data</a:t>
                      </a:r>
                      <a:endParaRPr lang="en-US" sz="105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endParaRPr lang="en-US" sz="105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Char char="§"/>
                      </a:pPr>
                      <a:r>
                        <a:rPr lang="en-US" sz="1050" kern="12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Finacle</a:t>
                      </a:r>
                      <a:r>
                        <a:rPr lang="en-US" sz="105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Operational Data Store for Deposits and DPL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Char char="§"/>
                      </a:pPr>
                      <a:r>
                        <a:rPr lang="en-US" sz="105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Deposits</a:t>
                      </a:r>
                      <a:r>
                        <a:rPr lang="en-US" sz="105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Alerts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Char char="§"/>
                      </a:pPr>
                      <a:r>
                        <a:rPr lang="en-US" sz="105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AC Lite data files</a:t>
                      </a:r>
                      <a:endParaRPr lang="en-US" sz="105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837511"/>
                  </a:ext>
                </a:extLst>
              </a:tr>
              <a:tr h="450985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FTE</a:t>
                      </a:r>
                      <a:r>
                        <a:rPr lang="en-US" sz="1050" b="1" baseline="0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 </a:t>
                      </a:r>
                      <a:endParaRPr lang="en-US" sz="1050" b="1" dirty="0" smtClean="0">
                        <a:solidFill>
                          <a:srgbClr val="474747"/>
                        </a:solidFill>
                        <a:latin typeface="Meta Offc Pro Normal" panose="020B0504030101020102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6532120"/>
                  </a:ext>
                </a:extLst>
              </a:tr>
              <a:tr h="411428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ADC 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1:4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0:6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2:5</a:t>
                      </a:r>
                      <a:endParaRPr lang="en-US" sz="105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26109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Surge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0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05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05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41391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Scrum Master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Dhruv</a:t>
                      </a:r>
                      <a:r>
                        <a:rPr lang="en-US" sz="105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Mehta</a:t>
                      </a:r>
                      <a:endParaRPr lang="en-US" sz="105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Dhruv</a:t>
                      </a:r>
                      <a:r>
                        <a:rPr lang="en-US" sz="105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Mehta</a:t>
                      </a:r>
                      <a:endParaRPr lang="en-US" sz="105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Dhruv</a:t>
                      </a: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 Mehta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096272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Business </a:t>
                      </a:r>
                      <a:r>
                        <a:rPr lang="en-US" sz="1050" b="1" dirty="0" err="1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Parrtners</a:t>
                      </a: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/Product Owner</a:t>
                      </a:r>
                      <a:endParaRPr lang="en-US" sz="1050" b="1" dirty="0">
                        <a:solidFill>
                          <a:srgbClr val="474747"/>
                        </a:solidFill>
                        <a:latin typeface="Meta Offc Pro Normal" panose="020B0504030101020102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SVP – Tod Gordon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VP – </a:t>
                      </a:r>
                      <a:r>
                        <a:rPr lang="en-US" sz="1050" kern="12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Arijit</a:t>
                      </a:r>
                      <a:r>
                        <a:rPr lang="en-US" sz="105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Roy, Ram Subramanian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Director – Vincent He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Product</a:t>
                      </a:r>
                      <a:r>
                        <a:rPr lang="en-US" sz="105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Owner - Alex Morsov</a:t>
                      </a:r>
                      <a:endParaRPr lang="en-US" sz="105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SVP – Tod</a:t>
                      </a: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Gordon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VP – </a:t>
                      </a:r>
                      <a:r>
                        <a:rPr lang="en-US" sz="1050" kern="1200" baseline="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Arijit</a:t>
                      </a: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Roy, Ram Subramanian</a:t>
                      </a:r>
                      <a:endParaRPr lang="en-US" sz="105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Director – Tushar</a:t>
                      </a:r>
                      <a:r>
                        <a:rPr lang="en-US" sz="105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Mutatkar</a:t>
                      </a:r>
                      <a:endParaRPr lang="en-US" sz="105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Product Owner – </a:t>
                      </a:r>
                      <a:r>
                        <a:rPr lang="en-US" sz="1050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Vijaychandra</a:t>
                      </a:r>
                      <a:r>
                        <a:rPr lang="en-US" sz="105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50" kern="12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Boppana</a:t>
                      </a:r>
                      <a:endParaRPr lang="en-US" sz="105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SVP – Tod Gordon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VP – </a:t>
                      </a:r>
                      <a:r>
                        <a:rPr lang="en-US" sz="105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Arijit</a:t>
                      </a: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 Roy, Ram Subramanian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Director – Vincent</a:t>
                      </a:r>
                      <a:r>
                        <a:rPr lang="en-US" sz="105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 He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58842"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b="1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Technology</a:t>
                      </a:r>
                      <a:r>
                        <a:rPr lang="en-US" sz="1050" b="1" baseline="0" dirty="0" smtClean="0">
                          <a:solidFill>
                            <a:srgbClr val="474747"/>
                          </a:solidFill>
                          <a:latin typeface="Meta Offc Pro Normal" panose="020B0504030101020102" pitchFamily="34" charset="0"/>
                        </a:rPr>
                        <a:t> Stakeholders</a:t>
                      </a:r>
                      <a:endParaRPr lang="en-US" sz="1050" b="1" dirty="0">
                        <a:solidFill>
                          <a:srgbClr val="474747"/>
                        </a:solidFill>
                        <a:latin typeface="Meta Offc Pro Normal" panose="020B0504030101020102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Rupa</a:t>
                      </a:r>
                      <a:r>
                        <a:rPr lang="en-US" sz="105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 Narayan - ET Bank Data Ops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Robyn Schneider, Dave Bulgart – App Development</a:t>
                      </a:r>
                      <a:endParaRPr lang="en-US" sz="105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Rupa</a:t>
                      </a:r>
                      <a:r>
                        <a:rPr lang="en-US" sz="105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 Narayan - ET Bank Data Ops</a:t>
                      </a:r>
                      <a:endParaRPr lang="en-US" sz="1050" b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5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Robyn Schneider, Dave Bulgart – App Development</a:t>
                      </a:r>
                      <a:endParaRPr lang="en-US" sz="105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Rupa</a:t>
                      </a:r>
                      <a:r>
                        <a:rPr lang="en-US" sz="105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 Narayan – ET Bank Data Ops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cs typeface="Calibri" panose="020F0502020204030204" pitchFamily="34" charset="0"/>
                        </a:rPr>
                        <a:t>Robyn Schneider, Dave Bulgart – App Development</a:t>
                      </a:r>
                      <a:endParaRPr lang="en-US" sz="105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59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586625" y="0"/>
            <a:ext cx="10436771" cy="531991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DPL/DHE Team Overview – Suresh Appavu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32740" y="582791"/>
            <a:ext cx="1112586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Definition/Purpose: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Support Discover Personal Loans (DPL) line of business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oans which are unsecured, have a fixed rate and term, no origination fees, and are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to consolidate debt or pay for life's big events.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Support Discover Home Equity loans (DHE) line of business – loans having a fixed rate, term, and monthly payment ranging from $35K - $150K that allows borrower to use value of his/her home as collateral. 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Support Line Of Credit Initiative – a new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Line of Credit product that will include Overdraft Protection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Marketing Analytical Database (MAD)/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Neustar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(DSDK) -  an enterprise-wide marketing technology architecture</a:t>
            </a:r>
          </a:p>
          <a:p>
            <a:endParaRPr lang="en-US" dirty="0" smtClean="0">
              <a:latin typeface="Calibri" panose="020F0502020204030204" pitchFamily="34" charset="0"/>
            </a:endParaRPr>
          </a:p>
          <a:p>
            <a:endParaRPr lang="en-US" dirty="0" smtClean="0">
              <a:latin typeface="Calibri" panose="020F0502020204030204" pitchFamily="34" charset="0"/>
            </a:endParaRP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DMS Adoption: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aily stand-ups, daily collaboration sessions, weekly huddles, problem solving meetings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Program Increment (PI) events, retrospectives,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Scrum of scrum 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 meetings, PO/PM/SM synch meetings</a:t>
            </a:r>
            <a:endParaRPr lang="en-US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774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586625" y="0"/>
            <a:ext cx="10436771" cy="531991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DPL Team Overview – Suresh Appavu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66700" y="812796"/>
            <a:ext cx="4826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Team Composition: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ADC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In-Sourcing/Recruitment Plans: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Release 1 ADC effective 5/31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Plan to convert 1 ADC resource by Q3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Release 1 ADC resources by end of June </a:t>
            </a:r>
            <a:endParaRPr lang="en-US" dirty="0">
              <a:latin typeface="Calibri" panose="020F050202020403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44FF7ADD-868E-9B45-AC91-1C2D61BB3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1188606"/>
              </p:ext>
            </p:extLst>
          </p:nvPr>
        </p:nvGraphicFramePr>
        <p:xfrm>
          <a:off x="5567031" y="802527"/>
          <a:ext cx="6375400" cy="507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325">
                  <a:extLst>
                    <a:ext uri="{9D8B030D-6E8A-4147-A177-3AD203B41FA5}">
                      <a16:colId xmlns:a16="http://schemas.microsoft.com/office/drawing/2014/main" xmlns="" val="2824392273"/>
                    </a:ext>
                  </a:extLst>
                </a:gridCol>
                <a:gridCol w="2036394"/>
                <a:gridCol w="2241681"/>
              </a:tblGrid>
              <a:tr h="38112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Name</a:t>
                      </a: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Role</a:t>
                      </a: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Type</a:t>
                      </a: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9321400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Suresh Appavu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Sr. Manager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837511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Margaret (Peggy) Rivera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Scrum Master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Sarita Pinto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Product Owner - DPL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Sivakumar</a:t>
                      </a: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 Nachimuthu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Lead 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Mark Olson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Lee Collins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Ankansha</a:t>
                      </a: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 Singh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Fakruddin Ummar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Pratik Ghorpade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Komal Bhatiya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Supriya</a:t>
                      </a: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 Agrawal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Rajat Chawla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43CA568D-440D-CD48-9EEF-CDC71767A7B3}"/>
              </a:ext>
            </a:extLst>
          </p:cNvPr>
          <p:cNvSpPr txBox="1">
            <a:spLocks/>
          </p:cNvSpPr>
          <p:nvPr/>
        </p:nvSpPr>
        <p:spPr>
          <a:xfrm>
            <a:off x="226828" y="6400800"/>
            <a:ext cx="11277600" cy="457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ts val="3200"/>
              </a:lnSpc>
              <a:spcBef>
                <a:spcPts val="1600"/>
              </a:spcBef>
              <a:buClr>
                <a:srgbClr val="00548A"/>
              </a:buClr>
              <a:buFont typeface="Wingdings" pitchFamily="2" charset="2"/>
              <a:buNone/>
              <a:defRPr sz="2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24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20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1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1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/>
              <a:t>* Sr. Managers not included in counts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04822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586625" y="0"/>
            <a:ext cx="10436771" cy="531991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DHE Team Overview – Suresh Appavu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66700" y="812796"/>
            <a:ext cx="4826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Team Composition: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2 ADC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In-Sourcing/Recruitment Plans: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Release 1 ADC resource by end of 2019 </a:t>
            </a:r>
            <a:endParaRPr lang="en-US" dirty="0">
              <a:latin typeface="Calibri" panose="020F050202020403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44FF7ADD-868E-9B45-AC91-1C2D61BB3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813393"/>
              </p:ext>
            </p:extLst>
          </p:nvPr>
        </p:nvGraphicFramePr>
        <p:xfrm>
          <a:off x="5556398" y="531991"/>
          <a:ext cx="6375400" cy="2731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325">
                  <a:extLst>
                    <a:ext uri="{9D8B030D-6E8A-4147-A177-3AD203B41FA5}">
                      <a16:colId xmlns:a16="http://schemas.microsoft.com/office/drawing/2014/main" xmlns="" val="2824392273"/>
                    </a:ext>
                  </a:extLst>
                </a:gridCol>
                <a:gridCol w="2036394"/>
                <a:gridCol w="2241681"/>
              </a:tblGrid>
              <a:tr h="38112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Name</a:t>
                      </a: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Role</a:t>
                      </a: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Type</a:t>
                      </a: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9321400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Suresh Appavu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Sr. Manager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837511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Margaret (Peggy) Rivera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Scrum Master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Anton Roussev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Product Owner – DHE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Sachin Barapatre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Rahul </a:t>
                      </a:r>
                      <a:r>
                        <a:rPr lang="en-US" sz="1000" dirty="0" err="1" smtClean="0"/>
                        <a:t>Pancholi</a:t>
                      </a:r>
                      <a:endParaRPr lang="en-US" sz="1000" dirty="0"/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Shubhangi</a:t>
                      </a:r>
                      <a:r>
                        <a:rPr lang="en-US" sz="1000" dirty="0" smtClean="0"/>
                        <a:t>  </a:t>
                      </a:r>
                      <a:r>
                        <a:rPr lang="en-US" sz="1000" dirty="0" err="1" smtClean="0"/>
                        <a:t>Sangnale</a:t>
                      </a:r>
                      <a:endParaRPr lang="en-US" sz="1000" dirty="0"/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43CA568D-440D-CD48-9EEF-CDC71767A7B3}"/>
              </a:ext>
            </a:extLst>
          </p:cNvPr>
          <p:cNvSpPr txBox="1">
            <a:spLocks/>
          </p:cNvSpPr>
          <p:nvPr/>
        </p:nvSpPr>
        <p:spPr>
          <a:xfrm>
            <a:off x="226828" y="6400800"/>
            <a:ext cx="11277600" cy="457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ts val="3200"/>
              </a:lnSpc>
              <a:spcBef>
                <a:spcPts val="1600"/>
              </a:spcBef>
              <a:buClr>
                <a:srgbClr val="00548A"/>
              </a:buClr>
              <a:buFont typeface="Wingdings" pitchFamily="2" charset="2"/>
              <a:buNone/>
              <a:defRPr sz="2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24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20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1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1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/>
              <a:t>* Sr. Managers not included in counts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89829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586625" y="0"/>
            <a:ext cx="10436771" cy="531991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Marketing Analytics (MAD) Team Overview – Suresh Appavu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66700" y="812796"/>
            <a:ext cx="482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Team Composition: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FTE</a:t>
            </a: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In-Sourcing/Recruitment Plans: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 open to be hired </a:t>
            </a:r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by Q3 </a:t>
            </a:r>
            <a:endParaRPr lang="en-US" dirty="0">
              <a:latin typeface="Calibri" panose="020F050202020403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44FF7ADD-868E-9B45-AC91-1C2D61BB3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4753371"/>
              </p:ext>
            </p:extLst>
          </p:nvPr>
        </p:nvGraphicFramePr>
        <p:xfrm>
          <a:off x="5556398" y="531991"/>
          <a:ext cx="637540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325">
                  <a:extLst>
                    <a:ext uri="{9D8B030D-6E8A-4147-A177-3AD203B41FA5}">
                      <a16:colId xmlns:a16="http://schemas.microsoft.com/office/drawing/2014/main" xmlns="" val="2824392273"/>
                    </a:ext>
                  </a:extLst>
                </a:gridCol>
                <a:gridCol w="2036394"/>
                <a:gridCol w="2241681"/>
              </a:tblGrid>
              <a:tr h="38112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Name</a:t>
                      </a: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Role</a:t>
                      </a: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Type</a:t>
                      </a: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9321400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Suresh Appavu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Sr. Manager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837511"/>
                  </a:ext>
                </a:extLst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Suganya Prathap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Scrum Master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Jacob Gutierrez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Jashwanth</a:t>
                      </a: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Yenumula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Marvin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Abarca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Ganga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Vijendran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Kabindra</a:t>
                      </a:r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Senapati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Ryan Stevens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Analyst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Jeffrey</a:t>
                      </a:r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Adams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Analyst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43CA568D-440D-CD48-9EEF-CDC71767A7B3}"/>
              </a:ext>
            </a:extLst>
          </p:cNvPr>
          <p:cNvSpPr txBox="1">
            <a:spLocks/>
          </p:cNvSpPr>
          <p:nvPr/>
        </p:nvSpPr>
        <p:spPr>
          <a:xfrm>
            <a:off x="226828" y="6400800"/>
            <a:ext cx="11277600" cy="457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ts val="3200"/>
              </a:lnSpc>
              <a:spcBef>
                <a:spcPts val="1600"/>
              </a:spcBef>
              <a:buClr>
                <a:srgbClr val="00548A"/>
              </a:buClr>
              <a:buFont typeface="Wingdings" pitchFamily="2" charset="2"/>
              <a:buNone/>
              <a:defRPr sz="2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24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20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1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1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/>
              <a:t>* Sr. Managers not included in counts.  Scrum Master not included in MAD count.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95164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586625" y="0"/>
            <a:ext cx="10436771" cy="531991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DPL/DHE Team Overview – Suresh Appavu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77332" y="663940"/>
            <a:ext cx="1157797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What does winning look like in 2019: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Provide data to enable improved model implementations for credit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decisioning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(Zest), allowing DFS to evaluate applicants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expand our reach to serve new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customers (DPL)</a:t>
            </a:r>
            <a:endParaRPr lang="en-US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Enable data within analytics environment for Overdraft Line of Credit product, which covers inadvertent overdrafts by advancing 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funds needed in the protected (checking) account from the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overdraft line of credit (ODP LOC).  This effort supports broad-market growth of DFS’s low-cost funding source, develops a consumer banking experience with revolving credit, and allows business teams to consume the data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Finance &amp; Compliance Reports &amp; Models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 (LOC)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Provide improved data analytics capabilities by adding additional attributes from originations vendor,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NetOxygen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into production analytics environment (DHE)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Develop marketing analytics capabilities by providing digital data sources (existing and external) in Snowflake (MAD)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teeing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up for the future: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Improve operational efficiency by onboarding partners through Impact vendor, providing an approximate savings of $4.8MM (DPL)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Provide additional data analytics capabilities by adding data attributes from Wipro into production analytics environment (DHE)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Continue to develop marketing capabilities via MAD initiatives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044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DSL Team Overview – Alice Bodner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32740" y="582791"/>
            <a:ext cx="1112586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Definition/Purpose: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Support Discover Student Loans (DSL) line of business – loans used to pay for school–related expenses, typically college expenses, including undergraduate, graduate, and consolidation loans. </a:t>
            </a:r>
          </a:p>
          <a:p>
            <a:endParaRPr lang="en-US" dirty="0" smtClean="0">
              <a:latin typeface="Calibri" panose="020F0502020204030204" pitchFamily="34" charset="0"/>
            </a:endParaRPr>
          </a:p>
          <a:p>
            <a:endParaRPr lang="en-US" dirty="0" smtClean="0">
              <a:latin typeface="Calibri" panose="020F0502020204030204" pitchFamily="34" charset="0"/>
            </a:endParaRP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DMS Adoption: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aily stand-ups, daily collaboration sessions, weekly huddles, problem solving meetings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Program Increment (PI) events, retrospectives,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Scrum of scrum 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 meetings, PO/PM/SM synch meetings</a:t>
            </a:r>
            <a:endParaRPr lang="en-US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191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586625" y="0"/>
            <a:ext cx="10436771" cy="531991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DSL Team Overview – Alice Bodner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66700" y="787173"/>
            <a:ext cx="4826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Team Composition: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9 FTE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11 ADC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In-Sourcing/Recruitment Plans: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Release 5 ADC resources by end of 2019 </a:t>
            </a:r>
            <a:endParaRPr lang="en-US" dirty="0">
              <a:latin typeface="Calibri" panose="020F050202020403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44FF7ADD-868E-9B45-AC91-1C2D61BB3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4412444"/>
              </p:ext>
            </p:extLst>
          </p:nvPr>
        </p:nvGraphicFramePr>
        <p:xfrm>
          <a:off x="6302362" y="787173"/>
          <a:ext cx="5721034" cy="5843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058">
                  <a:extLst>
                    <a:ext uri="{9D8B030D-6E8A-4147-A177-3AD203B41FA5}">
                      <a16:colId xmlns:a16="http://schemas.microsoft.com/office/drawing/2014/main" xmlns="" val="2824392273"/>
                    </a:ext>
                  </a:extLst>
                </a:gridCol>
                <a:gridCol w="1827380"/>
                <a:gridCol w="2011596"/>
              </a:tblGrid>
              <a:tr h="34985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Name</a:t>
                      </a: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Role</a:t>
                      </a: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Type</a:t>
                      </a: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9321400"/>
                  </a:ext>
                </a:extLst>
              </a:tr>
              <a:tr h="34985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Alice Bodner</a:t>
                      </a: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Sr. Manager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837511"/>
                  </a:ext>
                </a:extLst>
              </a:tr>
              <a:tr h="34985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Hargeet</a:t>
                      </a: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 Singh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Scrum Master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49858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Alex Payne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Product Owner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9858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Julius D’Souza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Lead 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49858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Arif Khan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Lead 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9858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Avishek</a:t>
                      </a: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 Roy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Lead 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49858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Irfan Syed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Sr. 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9858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Srinivas </a:t>
                      </a:r>
                      <a:r>
                        <a:rPr lang="en-US" sz="10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Lakkireddy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Sr. 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49858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Janet Xu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Sr. 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9858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Nathan Chen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49858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Umaima Sipwala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49858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BitWise</a:t>
                      </a: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On-site L3 Support (1)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Off-shore L3 Support (4)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49858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BitWise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On-site PA L1 Support (1)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Off-shore PA L1 Support (5)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548A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43CA568D-440D-CD48-9EEF-CDC71767A7B3}"/>
              </a:ext>
            </a:extLst>
          </p:cNvPr>
          <p:cNvSpPr txBox="1">
            <a:spLocks/>
          </p:cNvSpPr>
          <p:nvPr/>
        </p:nvSpPr>
        <p:spPr>
          <a:xfrm>
            <a:off x="226828" y="6400800"/>
            <a:ext cx="11277600" cy="457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ts val="3200"/>
              </a:lnSpc>
              <a:spcBef>
                <a:spcPts val="1600"/>
              </a:spcBef>
              <a:buClr>
                <a:srgbClr val="00548A"/>
              </a:buClr>
              <a:buFont typeface="Wingdings" pitchFamily="2" charset="2"/>
              <a:buNone/>
              <a:defRPr sz="2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24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20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1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1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/>
              <a:t>* Sr. Managers not included in counts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78313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586625" y="0"/>
            <a:ext cx="10436771" cy="531991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DSL Team Overview – Alice Bodner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66700" y="812796"/>
            <a:ext cx="1157797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What does winning look like in 2019: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 data to enable improved model implementations for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DSL models, improving originations and servicing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Implement 25% of SDM enhancements to provide improved data capabilities for Student Loan business partners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teeing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up for the future: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Complete remaining SDM enhancements, providing overall improved data capabilities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(TBD)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Move existing data from sandbox environment to standardized, fully supported production tables.  This will provide improved data capabilities for our business partners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534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Deposits Team Overview – Samantha Liu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32740" y="582791"/>
            <a:ext cx="1112586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Definition/Purpose: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Support Discover Deposits line of business – checking, savings, money market, CDs, and IRAs.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Support Discover Deposits Fraud application – support of DW processes making data available to detect fraudulent activity among Discover deposit applications, accounts, and transactions. 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Support FODS application – support of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Finacle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Operational Data Store, including processes, servers, and testing environment, making source Deposits and DPL data available in DW.</a:t>
            </a:r>
          </a:p>
          <a:p>
            <a:endParaRPr lang="en-US" dirty="0" smtClean="0">
              <a:latin typeface="Calibri" panose="020F0502020204030204" pitchFamily="34" charset="0"/>
            </a:endParaRPr>
          </a:p>
          <a:p>
            <a:endParaRPr lang="en-US" dirty="0" smtClean="0">
              <a:latin typeface="Calibri" panose="020F0502020204030204" pitchFamily="34" charset="0"/>
            </a:endParaRP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DMS Adoption: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aily stand-ups, daily collaboration sessions, weekly huddles, problem solving meetings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Program Increment (PI) events, retrospectives,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Scrum of scrum 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 meetings, PO/PM/SM synch meetings</a:t>
            </a:r>
            <a:endParaRPr lang="en-US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30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586625" y="0"/>
            <a:ext cx="10436771" cy="531991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Deposits Team Overview – Samantha Liu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66700" y="812796"/>
            <a:ext cx="4826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Team Composition: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5 FTE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7 ADC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In-Sourcing/Recruitment Plans: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4 FTE hired with start dates in June and July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Plan to hire 2 FTE by end of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Plan to hire 3 FTE by Q1 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44FF7ADD-868E-9B45-AC91-1C2D61BB3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6029896"/>
              </p:ext>
            </p:extLst>
          </p:nvPr>
        </p:nvGraphicFramePr>
        <p:xfrm>
          <a:off x="5524500" y="812796"/>
          <a:ext cx="6375400" cy="491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325">
                  <a:extLst>
                    <a:ext uri="{9D8B030D-6E8A-4147-A177-3AD203B41FA5}">
                      <a16:colId xmlns:a16="http://schemas.microsoft.com/office/drawing/2014/main" xmlns="" val="2824392273"/>
                    </a:ext>
                  </a:extLst>
                </a:gridCol>
                <a:gridCol w="2574798"/>
                <a:gridCol w="1703277"/>
              </a:tblGrid>
              <a:tr h="39864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Name</a:t>
                      </a: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Role</a:t>
                      </a: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0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Type</a:t>
                      </a: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9321400"/>
                  </a:ext>
                </a:extLst>
              </a:tr>
              <a:tr h="383073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Samantha Liu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Sr. Manager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837511"/>
                  </a:ext>
                </a:extLst>
              </a:tr>
              <a:tr h="383073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Dhruv Mehta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Scrum Master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8646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Alex Morsov</a:t>
                      </a:r>
                    </a:p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Vijay </a:t>
                      </a:r>
                      <a:r>
                        <a:rPr lang="en-US" sz="10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Boppana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Product Owner – Deposits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Product Owner – Deposits Fraud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8646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Erin Rice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Principal Systems Analyst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8646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Brian Gross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Lead Business Data Analyst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8646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Angie Fang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Sr. 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8646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Ayesha Naseem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Data Engineer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FTE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8646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BitWise</a:t>
                      </a: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On-site Deposits Support (1)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Off-shore Deposits Support (4)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8646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BitWise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Off-shore Deposits Fraud Support (6)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8646">
                <a:tc>
                  <a:txBody>
                    <a:bodyPr/>
                    <a:lstStyle/>
                    <a:p>
                      <a:pPr marL="0" indent="0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0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BitWise</a:t>
                      </a:r>
                      <a:endParaRPr lang="en-US" sz="10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On-site FODS Support (2)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Off-shore FODS Support (5)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0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ADC</a:t>
                      </a:r>
                    </a:p>
                  </a:txBody>
                  <a:tcPr marL="118872" marR="118872" marT="118872" marB="118872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43CA568D-440D-CD48-9EEF-CDC71767A7B3}"/>
              </a:ext>
            </a:extLst>
          </p:cNvPr>
          <p:cNvSpPr txBox="1">
            <a:spLocks/>
          </p:cNvSpPr>
          <p:nvPr/>
        </p:nvSpPr>
        <p:spPr>
          <a:xfrm>
            <a:off x="226828" y="6400800"/>
            <a:ext cx="11277600" cy="457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ts val="3200"/>
              </a:lnSpc>
              <a:spcBef>
                <a:spcPts val="1600"/>
              </a:spcBef>
              <a:buClr>
                <a:srgbClr val="00548A"/>
              </a:buClr>
              <a:buFont typeface="Wingdings" pitchFamily="2" charset="2"/>
              <a:buNone/>
              <a:defRPr sz="2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24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20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1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1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/>
              <a:t>* Sr. Managers not included in counts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95354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586625" y="0"/>
            <a:ext cx="10436771" cy="531991"/>
          </a:xfrm>
        </p:spPr>
        <p:txBody>
          <a:bodyPr>
            <a:noAutofit/>
          </a:bodyPr>
          <a:lstStyle/>
          <a:p>
            <a:r>
              <a:rPr lang="en-US" sz="2000" b="1" dirty="0" err="1" smtClean="0"/>
              <a:t>DepositsTeam</a:t>
            </a:r>
            <a:r>
              <a:rPr lang="en-US" sz="2000" b="1" dirty="0" smtClean="0"/>
              <a:t> Overview – Samantha Liu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66700" y="812796"/>
            <a:ext cx="1157797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What does winning look like in 2019: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Money Movement changes which will improve our customer’s ability to move money more quickly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Project Taylor will provide new features to allow our customers creative ways to save with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Provide data within analytical environment for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Zelle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P2P, giving our customers a way to transfer money to people within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Zelle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network and making DFS more competitive within the deposits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Provide automated solutions of manual fraud business processes, improving process controls, providing for standards and data quality, production support, and allowing business more time for other key business functions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teeing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up for the future: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Provide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to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enable implementation of bank fraud models, enhancing deposits originations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Migration of SAS strategies to FICO DMP, providing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simpler and faster decisions, less dependency on other teams, a cloud-based environment with capabilities to scale economically, and increased decision accuracy through powerful data analytics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(TBD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4108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586625" y="0"/>
            <a:ext cx="10436771" cy="531991"/>
          </a:xfrm>
        </p:spPr>
        <p:txBody>
          <a:bodyPr>
            <a:noAutofit/>
          </a:bodyPr>
          <a:lstStyle/>
          <a:p>
            <a:r>
              <a:rPr lang="en-US" sz="2000" b="1" smtClean="0"/>
              <a:t>Bank Data Ops Team – Common Goals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66700" y="812796"/>
            <a:ext cx="1157797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What does winning look like in 2019: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Unify and simplify bank servicing data pipeline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Hadoop Migration by end of the year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FODS Migration (TBD)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Continue to move all bank data assets towards the cloud</a:t>
            </a:r>
          </a:p>
          <a:p>
            <a:pPr lvl="1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Operational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esiliency: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Reduce abends by 50%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Meet banking critical and key core application SLAs 90% of the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Meet banking support application SLAs 80% of the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Reduce DQ overrides to 0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Team and process development: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Establish teams, processes and metrics per DMS structure and drive operational efficiencies and improve productivity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Develop credible relationships with all bank partners and improve interactions with BT partners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05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Bank Data Ops Technology/Performance</a:t>
            </a:r>
            <a:endParaRPr lang="en-US" sz="2000" b="1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xmlns="" id="{44FF7ADD-868E-9B45-AC91-1C2D61BB3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1214921"/>
              </p:ext>
            </p:extLst>
          </p:nvPr>
        </p:nvGraphicFramePr>
        <p:xfrm>
          <a:off x="144379" y="649163"/>
          <a:ext cx="11732189" cy="598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601">
                  <a:extLst>
                    <a:ext uri="{9D8B030D-6E8A-4147-A177-3AD203B41FA5}">
                      <a16:colId xmlns:a16="http://schemas.microsoft.com/office/drawing/2014/main" xmlns="" val="2824392273"/>
                    </a:ext>
                  </a:extLst>
                </a:gridCol>
                <a:gridCol w="1418380"/>
                <a:gridCol w="1423292"/>
                <a:gridCol w="1411473"/>
                <a:gridCol w="1411473"/>
                <a:gridCol w="1507990"/>
                <a:gridCol w="1507990"/>
                <a:gridCol w="1507990"/>
              </a:tblGrid>
              <a:tr h="122865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4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Discover Personal Loans </a:t>
                      </a:r>
                    </a:p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4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(DPL)</a:t>
                      </a:r>
                      <a:endParaRPr lang="en-US" sz="14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4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Discover Home Equity      (DHE)</a:t>
                      </a:r>
                      <a:endParaRPr lang="en-US" sz="14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4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Line of Credit (LOC)</a:t>
                      </a:r>
                      <a:endParaRPr lang="en-US" sz="14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4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Discover Student Loans  (DSL)</a:t>
                      </a:r>
                      <a:endParaRPr lang="en-US" sz="14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4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Deposits</a:t>
                      </a:r>
                      <a:endParaRPr lang="en-US" sz="14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4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Deposits Fraud</a:t>
                      </a:r>
                      <a:endParaRPr lang="en-US" sz="14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4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FODS</a:t>
                      </a:r>
                      <a:endParaRPr lang="en-US" sz="14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9321400"/>
                  </a:ext>
                </a:extLst>
              </a:tr>
              <a:tr h="14222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Acquisitions / Originations </a:t>
                      </a:r>
                      <a:endParaRPr lang="en-US" sz="14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Discover Loan Origination System </a:t>
                      </a:r>
                    </a:p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(DLOS)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NetOxygen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Finacle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Discover Student Loan Originations (DSLO)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Finacle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Finacle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Finacle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837511"/>
                  </a:ext>
                </a:extLst>
              </a:tr>
              <a:tr h="65487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Servicing</a:t>
                      </a:r>
                      <a:endParaRPr lang="en-US" sz="14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kern="12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Finacle</a:t>
                      </a:r>
                      <a:endParaRPr lang="en-US" sz="1400" b="0" i="0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Dovenmuehle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Finacle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Finacle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Finacle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Finacle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69143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Collections</a:t>
                      </a:r>
                      <a:endParaRPr lang="en-US" sz="14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ECS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Dovenmuehle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ECS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ECS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69143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Recovery</a:t>
                      </a:r>
                      <a:endParaRPr lang="en-US" sz="14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Debt Manager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Dovenmuehle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Debt Manager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Debt Manager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69143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Marketing</a:t>
                      </a:r>
                      <a:endParaRPr lang="en-US" sz="14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kern="12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Neustar</a:t>
                      </a:r>
                      <a:endParaRPr lang="en-US" sz="1400" b="0" i="0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69143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Total Jobs</a:t>
                      </a:r>
                      <a:endParaRPr lang="en-US" sz="14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2040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400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TBD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7200 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600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1130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180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Bank Data Ops Technology/Performance</a:t>
            </a:r>
            <a:endParaRPr lang="en-US" sz="2000" b="1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43CA568D-440D-CD48-9EEF-CDC71767A7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685800"/>
            <a:ext cx="11277600" cy="457200"/>
          </a:xfrm>
        </p:spPr>
        <p:txBody>
          <a:bodyPr/>
          <a:lstStyle/>
          <a:p>
            <a:r>
              <a:rPr lang="en-US" dirty="0"/>
              <a:t>SLA/SLO Dashboards for </a:t>
            </a:r>
            <a:r>
              <a:rPr lang="en-US" dirty="0" smtClean="0"/>
              <a:t>DPL/DHE </a:t>
            </a:r>
            <a:r>
              <a:rPr lang="en-US" dirty="0"/>
              <a:t>Applications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12" y="1408387"/>
            <a:ext cx="10494336" cy="497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36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Bank Data Ops Technology/Performance</a:t>
            </a:r>
            <a:endParaRPr lang="en-US" sz="2000" b="1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43CA568D-440D-CD48-9EEF-CDC71767A7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685800"/>
            <a:ext cx="11277600" cy="457200"/>
          </a:xfrm>
        </p:spPr>
        <p:txBody>
          <a:bodyPr/>
          <a:lstStyle/>
          <a:p>
            <a:r>
              <a:rPr lang="en-US" dirty="0"/>
              <a:t>SLA/SLO Dashboards for </a:t>
            </a:r>
            <a:r>
              <a:rPr lang="en-US" dirty="0" smtClean="0"/>
              <a:t>DSL </a:t>
            </a:r>
            <a:r>
              <a:rPr lang="en-US" dirty="0"/>
              <a:t>Applications</a:t>
            </a:r>
          </a:p>
        </p:txBody>
      </p:sp>
      <p:pic>
        <p:nvPicPr>
          <p:cNvPr id="9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045" t="30407" r="28397" b="16061"/>
          <a:stretch/>
        </p:blipFill>
        <p:spPr>
          <a:xfrm>
            <a:off x="1026201" y="1254642"/>
            <a:ext cx="10127351" cy="4892241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2734562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Bank Data Ops Technology/Performance</a:t>
            </a:r>
            <a:endParaRPr lang="en-US" sz="20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CCA1A54F-C5CF-8847-A30F-AF08F4BFC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62" r="531"/>
          <a:stretch/>
        </p:blipFill>
        <p:spPr>
          <a:xfrm>
            <a:off x="1300578" y="1371600"/>
            <a:ext cx="9574567" cy="4810125"/>
          </a:xfr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43CA568D-440D-CD48-9EEF-CDC71767A7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685800"/>
            <a:ext cx="11277600" cy="457200"/>
          </a:xfrm>
        </p:spPr>
        <p:txBody>
          <a:bodyPr/>
          <a:lstStyle/>
          <a:p>
            <a:r>
              <a:rPr lang="en-US" dirty="0"/>
              <a:t>SLA/SLO Dashboards for Deposits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183982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DPL Technology/Performance Overview</a:t>
            </a:r>
            <a:endParaRPr lang="en-US" sz="2000" b="1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xmlns="" id="{44FF7ADD-868E-9B45-AC91-1C2D61BB3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5660743"/>
              </p:ext>
            </p:extLst>
          </p:nvPr>
        </p:nvGraphicFramePr>
        <p:xfrm>
          <a:off x="956929" y="1143001"/>
          <a:ext cx="10451805" cy="5315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035">
                  <a:extLst>
                    <a:ext uri="{9D8B030D-6E8A-4147-A177-3AD203B41FA5}">
                      <a16:colId xmlns:a16="http://schemas.microsoft.com/office/drawing/2014/main" xmlns="" val="2824392273"/>
                    </a:ext>
                  </a:extLst>
                </a:gridCol>
                <a:gridCol w="1417720"/>
                <a:gridCol w="1290478"/>
                <a:gridCol w="1527143"/>
                <a:gridCol w="1527143"/>
                <a:gridCol w="1527143"/>
                <a:gridCol w="1527143"/>
              </a:tblGrid>
              <a:tr h="98083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endParaRPr lang="en-US" sz="10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4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Discover Personal Loans (DPL)</a:t>
                      </a:r>
                      <a:endParaRPr lang="en-US" sz="14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4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Discover Home Equity      (DHE)</a:t>
                      </a:r>
                      <a:endParaRPr lang="en-US" sz="14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4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Discover Student Loans  (DSL)</a:t>
                      </a:r>
                      <a:endParaRPr lang="en-US" sz="14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4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Deposits</a:t>
                      </a:r>
                      <a:endParaRPr lang="en-US" sz="14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4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Deposits Fraud</a:t>
                      </a:r>
                      <a:endParaRPr lang="en-US" sz="14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600"/>
                        </a:spcBef>
                      </a:pPr>
                      <a:r>
                        <a:rPr lang="en-US" sz="1400" b="0" i="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FODS</a:t>
                      </a:r>
                      <a:endParaRPr lang="en-US" sz="1400" b="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34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9321400"/>
                  </a:ext>
                </a:extLst>
              </a:tr>
              <a:tr h="84916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Incidents Open from Prior Months</a:t>
                      </a:r>
                      <a:endParaRPr lang="en-US" sz="14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US" sz="1400" b="0" i="0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0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30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0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19657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Total Incidents Opened in May</a:t>
                      </a:r>
                      <a:endParaRPr lang="en-US" sz="14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55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9328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May Abends </a:t>
                      </a:r>
                      <a:endParaRPr lang="en-US" sz="14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837511"/>
                  </a:ext>
                </a:extLst>
              </a:tr>
              <a:tr h="84916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May Business Initiated/Other Incidents</a:t>
                      </a:r>
                      <a:endParaRPr lang="en-US" sz="14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3284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May </a:t>
                      </a: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Incidents Closed</a:t>
                      </a: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54</a:t>
                      </a:r>
                      <a:endParaRPr lang="en-US" sz="1400" b="0" i="0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20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3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19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3284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00"/>
                        </a:lnSpc>
                        <a:spcBef>
                          <a:spcPts val="3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Incidents Remaining Open</a:t>
                      </a:r>
                      <a:endParaRPr lang="en-US" sz="1400" b="0" i="0" baseline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400" b="0" i="0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37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4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3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ts val="1200"/>
                        </a:lnSpc>
                        <a:spcBef>
                          <a:spcPts val="300"/>
                        </a:spcBef>
                        <a:buClr>
                          <a:srgbClr val="00548A"/>
                        </a:buClr>
                        <a:buFont typeface="Wingdings" pitchFamily="2" charset="2"/>
                        <a:buNone/>
                      </a:pPr>
                      <a:r>
                        <a:rPr lang="en-US" sz="1400" b="0" i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</a:rPr>
                        <a:t>0</a:t>
                      </a:r>
                      <a:endParaRPr lang="en-US" sz="1400" b="0" i="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18872" marR="118872" marT="118872" marB="118872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43CA568D-440D-CD48-9EEF-CDC71767A7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833" y="553106"/>
            <a:ext cx="11277600" cy="457200"/>
          </a:xfrm>
        </p:spPr>
        <p:txBody>
          <a:bodyPr/>
          <a:lstStyle/>
          <a:p>
            <a:r>
              <a:rPr lang="en-US" dirty="0" smtClean="0"/>
              <a:t>Open Incidents – May MTD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43CA568D-440D-CD48-9EEF-CDC71767A7B3}"/>
              </a:ext>
            </a:extLst>
          </p:cNvPr>
          <p:cNvSpPr txBox="1">
            <a:spLocks/>
          </p:cNvSpPr>
          <p:nvPr/>
        </p:nvSpPr>
        <p:spPr>
          <a:xfrm>
            <a:off x="226828" y="6400800"/>
            <a:ext cx="11277600" cy="457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ts val="3200"/>
              </a:lnSpc>
              <a:spcBef>
                <a:spcPts val="1600"/>
              </a:spcBef>
              <a:buClr>
                <a:srgbClr val="00548A"/>
              </a:buClr>
              <a:buFont typeface="Wingdings" pitchFamily="2" charset="2"/>
              <a:buNone/>
              <a:defRPr sz="2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24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20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1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48A"/>
              </a:buClr>
              <a:buFont typeface="Wingdings" pitchFamily="2" charset="2"/>
              <a:buChar char="§"/>
              <a:defRPr sz="1800" b="0" i="0" kern="1200">
                <a:solidFill>
                  <a:srgbClr val="47474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/>
              <a:t>* Call Alter incidents not included in counts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90514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735678E-A67B-0345-A0AA-1A920A1ECB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Meta Offc Pro Normal"/>
                <a:cs typeface="Arial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4214965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DPL Team Work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58140" y="887543"/>
            <a:ext cx="9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Work In Progress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937579"/>
              </p:ext>
            </p:extLst>
          </p:nvPr>
        </p:nvGraphicFramePr>
        <p:xfrm>
          <a:off x="1072965" y="1391471"/>
          <a:ext cx="8645194" cy="4222519"/>
        </p:xfrm>
        <a:graphic>
          <a:graphicData uri="http://schemas.openxmlformats.org/drawingml/2006/table">
            <a:tbl>
              <a:tblPr/>
              <a:tblGrid>
                <a:gridCol w="6487413"/>
                <a:gridCol w="2157781"/>
              </a:tblGrid>
              <a:tr h="365191"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Scheduled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Tech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 - PRT_ATTR_HIST Backfill and Decommission as a part of Capstone Retirement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Tech Debt] Creation of 8 generic IDs for DLOS datawarehouse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] Mock Data file and trigger file with Timestamp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[Tech Debt DPL] Optimize schedule &amp;  job HLQ rewrite Enterprise Customer &amp; Finacle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Adding a script to check the load of dpl_slctn_evnt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PI6] INC13132771-CRITICAL - EDW WSC Table Update (MSTO; UAT - 4/29; Install - 6/16)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INC] Spike DPL Recovery Table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9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INC13519733] - There is a record in the MSTR_APLN_ID field with the value 'QT000_Complete' in multiple Blaze production Tables.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INC13553902]  DPL Data correction in teradata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PI6] Spike-Finacle 6 day batch Analysis 4 [ Finacle Source files]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PI 6] - ETL Only - Paid media reporting to Impact Raidus (Install TBD)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PI6] New DLOS field in CNSMR_CR -  RATE_RDC_OFFR_IND (MSTO; UAT - 4/29; Install - 6/16)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Save the memo and indicator in the teradata Install 5/7 TSYS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4506-T data to EDW Install 5/7  TSYS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9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INC13364717] - Data Issue in two Teradata tables BNK_LOAN_ACCT_MTHLY_SNP and BNK_LN_CO_AND_RCV_SUM_HIST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9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INC] INC13381202: FDIC - Address LN_1_ADR from V_CLB_BASIC.ADR_DTL_HIST not populated in 12 C tables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DPLT_ADR_DTL_HIST_DQ_POST and DPLT_APLN_EMPT_HIST_DQ_POST failures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Addition of 4 columns to  T_EDW4. BNK_LOAN_ACCT_DLY_SNP - first priority - Install date 5/30/2019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 marL="2562" marR="2562" marT="256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524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DPL Team Work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78125" y="597850"/>
            <a:ext cx="9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Work In Backlog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033224"/>
              </p:ext>
            </p:extLst>
          </p:nvPr>
        </p:nvGraphicFramePr>
        <p:xfrm>
          <a:off x="743758" y="1421618"/>
          <a:ext cx="5344223" cy="5025846"/>
        </p:xfrm>
        <a:graphic>
          <a:graphicData uri="http://schemas.openxmlformats.org/drawingml/2006/table">
            <a:tbl>
              <a:tblPr/>
              <a:tblGrid>
                <a:gridCol w="4068316"/>
                <a:gridCol w="1275907"/>
              </a:tblGrid>
              <a:tr h="844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Schedule State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[DPL]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Adhoc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Support] [R&amp;B] 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Adhoc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activities to run the business) 05/01 - 05/31/2019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Tech Debt] Modifications to DPL Job Master File - DFTP information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7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Tech Debt] HLQ rewrite for FIN_FODS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Tech Debt] Need to do analysis for HNC_ID and CAPSTONE_ID Field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Tech Debt]Monitoring/Fixing - prospect information and solicitation event modification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7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Tech Debt] DPL long running jobs optimization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7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Tech Debt] Alerting mechanism For all DPL SALs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7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Tech Debt] Analyze DPL_DM_*files from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axiciom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Tech Debt] S_BAS Tables to Retire as a part of Capstone Retirement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7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Tech Debt] Snowflake Education preparation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Tech Debt Spike] - Analysis and Usage of table S_BAS.DPL_ACCO_NUM_REF table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3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DLOS EDW Table Clean-up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7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PI6] Metro2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dftp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setup for IDA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7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Lexis Nexis - Read from Maria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S3 using Abi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7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Clarity - Read from Maria db to S3 using Abi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03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Trended - Read from Maria db to S3 using Abi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7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PI 6] - ETL Only - Validate partner leads file with Oracle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79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PI6] - Neustar file Revision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PI6] PYMT Return Payment Representment - EDS receiving data - PLACEHOLDER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PI 6] NSF Representment (CR114P) - EDS/EDW Engagement (placeholder) - Analysis/Code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F40143 CDM DPL: DATA SOURCING - PI6 - EDS - OM2X_Changes - 19.7 - Install TBD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F40143 CDM DPL: DATA SOURCING - PI6 - EDS - OM2X_Changes - 19.8 Install TBD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F40143 CDM DPL: DATA SOURCING - PI6 - EDS - OM2X_Changes - 19.9 Install TBD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F40143 CDM DPL: DATA SOURCING - PI6 - EDS - OM2X_Changes - 19.10 Install TBD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PI5] - (Spike) Analysis and data model of Simility data for Snowflake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878482"/>
              </p:ext>
            </p:extLst>
          </p:nvPr>
        </p:nvGraphicFramePr>
        <p:xfrm>
          <a:off x="6453616" y="1113610"/>
          <a:ext cx="5401687" cy="3846296"/>
        </p:xfrm>
        <a:graphic>
          <a:graphicData uri="http://schemas.openxmlformats.org/drawingml/2006/table">
            <a:tbl>
              <a:tblPr/>
              <a:tblGrid>
                <a:gridCol w="2682361"/>
                <a:gridCol w="2719326"/>
              </a:tblGrid>
              <a:tr h="2220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Schedule State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02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Bky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Discharge -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Finacle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/CDS to ECS Updates Project- ECS File to EDS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02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[DPL]  permanent fix  for Job Abend CMDQ_IDS_DPL_APLN_POST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9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INC] INC13329208: DPL accounts missing in Teradata table V_CLB_BASIC.DPL_APLN_TRSFR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14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Blaze logs to EDW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83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Blaze logs to EDW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14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Blaze logs to EDW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14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Blaze logs to EDW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02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PI5] - Include Campaign source code attribution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02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[DPL] [PI4] Create CLBO Customer Satisfaction Survey File to Telesight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02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PI5] Priority 1: Send web target file to Sizmek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02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(Copy of) [DPL PI 6] - : [ETL Only] Update Leads File to Oracle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9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EDW impacts for BI Batch server Migration - Bank Loan Payment Reminder PT 1  - PLACEHOLDER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9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EDW impacts for BI: Batch server Migration - Bank Loan Payment Reminder PT 2 - PLACEHOLDER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02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Tech Debt] - Create views on Snowflake for table SCR_VAL_HIST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351394"/>
              </p:ext>
            </p:extLst>
          </p:nvPr>
        </p:nvGraphicFramePr>
        <p:xfrm>
          <a:off x="6453615" y="4959907"/>
          <a:ext cx="5401687" cy="1711760"/>
        </p:xfrm>
        <a:graphic>
          <a:graphicData uri="http://schemas.openxmlformats.org/drawingml/2006/table">
            <a:tbl>
              <a:tblPr/>
              <a:tblGrid>
                <a:gridCol w="2679752"/>
                <a:gridCol w="2721935"/>
              </a:tblGrid>
              <a:tr h="28946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PI5] - Create ETL process to load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Simility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data in Snowflake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16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[DPL PI6]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Finacle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6 day batch mapping changes and development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25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(Copy of) CDM DPL:  XXX - DWH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680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DPLS15 - Cell Consent and Revocation Reconciliation Report - EDS - ANALYSIS ONLY - SEPTEMBER RELEASE REQUESTED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0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DPLS15 - Cell Consent and Revocation Reconciliation Report - EDS - PLACEHOLDER FOR WORK - SEPTEMBER RELEASE REQUESTED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</a:p>
                  </a:txBody>
                  <a:tcPr marL="2913" marR="2913" marT="29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411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DHE Team Work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58140" y="887543"/>
            <a:ext cx="9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Work In Progress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317583"/>
              </p:ext>
            </p:extLst>
          </p:nvPr>
        </p:nvGraphicFramePr>
        <p:xfrm>
          <a:off x="1111494" y="1508697"/>
          <a:ext cx="8011241" cy="2269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47298"/>
                <a:gridCol w="1763943"/>
              </a:tblGrid>
              <a:tr h="2143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Name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Schedule State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34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Update 'DHE Job Details' </a:t>
                      </a:r>
                      <a:r>
                        <a:rPr lang="en-US" sz="9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</a:t>
                      </a:r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Wiki pages for Noble Dialer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2165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[TECH DEBT]  Update DCIF process not to wait for files on SAT and SUN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95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[INC13610387] Priority 1 :  Deleted record in unload file  vm_recordlog_nc for table clb_CALL_VMAIL_RCD_LOG_NC should be expired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34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Update SLA Dashboard for DHE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2165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DHE-[TECH DEBT]- Code change for the DHEW_WPR_EDW_BRW_INCM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2165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DHE[TECH DEBT]-INC13648471-Monthly Black Knight Home Valuation File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8140" y="4357301"/>
            <a:ext cx="9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Work In Progress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903228"/>
              </p:ext>
            </p:extLst>
          </p:nvPr>
        </p:nvGraphicFramePr>
        <p:xfrm>
          <a:off x="1111493" y="4996176"/>
          <a:ext cx="8011241" cy="1433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47298"/>
                <a:gridCol w="1763943"/>
              </a:tblGrid>
              <a:tr h="2143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Name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Schedule State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34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Optimize the SCD2 logic in DHE Generic graph - Set 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34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Optimize the SCD2 logic in DHE Generic graph - Set 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34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Optimize the SCD2 logic in DHE Generic graph - Set 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34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DHE[TECH DEBT]-Permenant fix for DHET_IDS_HEL_DSB_POST job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2165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 Date: 5-22 - Add 'Funded Date' and Borrower 'Part of Note Indicator'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273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DSL Team Work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58140" y="887543"/>
            <a:ext cx="9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Work In Progress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987965"/>
              </p:ext>
            </p:extLst>
          </p:nvPr>
        </p:nvGraphicFramePr>
        <p:xfrm>
          <a:off x="1121119" y="1412444"/>
          <a:ext cx="8011241" cy="44248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47298"/>
                <a:gridCol w="1763943"/>
              </a:tblGrid>
              <a:tr h="2234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Name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Schedule State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20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322 - DSL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Enh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Develop &amp; Test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Finacle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Hadoop 25 Tables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In-Progress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747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356 - Inc Mgt) INC12703531: “1SLF313d is missing loans with unamortized FAS costs(Dollar Bills) -- Analysis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In-Progress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17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322 - DSL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Enh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AWS data for DSL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Mindue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(UAT&amp; Post Install)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In-Progress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80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(Value Stream- PI6) MYLO Online Multi Year Application Renewal - Apex (Install)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In-Progress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9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(Value Stream-PI6) Increased Loan Amount - Install Spidey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In-Progress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96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251 EDM: B&amp;C Audit Phs2 ) Finding Override project 2018 (Spike story)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In-Progress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488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Bank 272 ""DSL: Increase Finacle Batch Process to 6 Days a Week"" (Spike)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In-Progress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9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(DSL Enh) BNK_LOAN_ACCT_TRAN_DTL Updates in EDW (Install)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In-Progress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380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322 - DSL Enh)  Installing Hadoop Extra records deletion process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In-Progress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488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(DSL Enh)Hadoop data deletion Integration testing on Prod server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In-Progress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272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322 - DSL Enh)  American Airlines DSL product in the Servicing DataMart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In-Progress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96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322 - DSL Enh) [Testing &amp; Install] EICE Payment Program Snapshot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In-Progress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380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(Tech Debt - Bank 344) Phase 4- S_BAS Tables-Retire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In-Progress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747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[Continued] (Bank 304 - Inc Mgt)INC11029740/INC10973787:[UAT and Install] Expand Scheduled Payment Amount to support Multiple Schedules and Types from Finacle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In-Progress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747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BAU(Outside of Sprint Goal)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In-Progress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585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DSL Team Work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58141" y="791850"/>
            <a:ext cx="9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Work In Backlog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478656"/>
              </p:ext>
            </p:extLst>
          </p:nvPr>
        </p:nvGraphicFramePr>
        <p:xfrm>
          <a:off x="1269976" y="1256875"/>
          <a:ext cx="8777794" cy="5495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8872"/>
                <a:gridCol w="1998922"/>
              </a:tblGrid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Project 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Schedule State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(Bank 322 - DSL </a:t>
                      </a:r>
                      <a:r>
                        <a:rPr lang="en-US" sz="1100" u="none" strike="noStrike" dirty="0" err="1">
                          <a:effectLst/>
                        </a:rPr>
                        <a:t>Enh</a:t>
                      </a:r>
                      <a:r>
                        <a:rPr lang="en-US" sz="1100" u="none" strike="noStrike" dirty="0">
                          <a:effectLst/>
                        </a:rPr>
                        <a:t>) Develop &amp; Test </a:t>
                      </a:r>
                      <a:r>
                        <a:rPr lang="en-US" sz="1100" u="none" strike="noStrike" dirty="0" err="1">
                          <a:effectLst/>
                        </a:rPr>
                        <a:t>Finacle</a:t>
                      </a:r>
                      <a:r>
                        <a:rPr lang="en-US" sz="1100" u="none" strike="noStrike" dirty="0">
                          <a:effectLst/>
                        </a:rPr>
                        <a:t> &amp; Hadoop Phase 2b (Dev/</a:t>
                      </a:r>
                      <a:r>
                        <a:rPr lang="en-US" sz="1100" u="none" strike="noStrike" dirty="0" err="1">
                          <a:effectLst/>
                        </a:rPr>
                        <a:t>Desgin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(Bank 322 - DSL Enh)  DSL SDM DQ Checks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(Bank 356 - Inc Mgt) INC12703531: “1SLF313d is missing loans with unamortized FAS costs - Dollar Bills (Dev)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(Bank 322 - DSL </a:t>
                      </a:r>
                      <a:r>
                        <a:rPr lang="en-US" sz="1100" u="none" strike="noStrike" dirty="0" err="1">
                          <a:effectLst/>
                        </a:rPr>
                        <a:t>Enh</a:t>
                      </a:r>
                      <a:r>
                        <a:rPr lang="en-US" sz="1100" u="none" strike="noStrike" dirty="0">
                          <a:effectLst/>
                        </a:rPr>
                        <a:t>) DSL Metro2 Reporting Table Clean-up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(Bank 322 - DSL Enh) DSL Metro2 Reporting Table Clean up Phase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(Bank 304 - Inc Mgt) INC13670073: Decommission the process that loads off cycle data to DSL Metro2 Tables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Bank 272 ""DSL: Increase Finacle Batch Process to 6 Days a Week"" (Analysis 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(Bank 356 - Inc Mgt) INC11029740 Update the CLM_TOT_PD_AMT for pre-migration DIPLOMA claim paid accounts to be consistent with Finacle SDM Data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(Bank 356 - Inc Mgt)INC11029740 SDM Incorrect SCRA Indicator &amp; SCRA Rate Reduction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(Bank 304 - Inc Mgt) INC11739975 - Count mismatch between Metro 2 upload file and data loaded in the table - Install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(Bank 356 - Inc Mgt)[Design/Dev]INC12110364: Pre TED Interest Cap adjustment amount is not populated in the EDW transaction details table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(Tech Debt - Bank 344) Documentation and installment preparation for Re-Design Sensitive Data in non CRD fields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(Tech Debt - Bank 344) Documentation and installment preparation for Re-Design Sensitive Data in non CRD fields (Post Install)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(Bank 356 - Inc Mgt) INC13596927: Original Metro2 files in Em_fncl_dsl_metro2_RAW being deleted and replaced by Modified Metro2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(Bank - 356 - Inc Mgt) INC13596963: Revert to establishing outbound transmission on updates data store for DS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(Bank 356 - Inc Mgt) INC10642164: Incorrect Claim and Charge Off Values for Insured Loans based on Agent and Finacle Errors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(Bank 356 - Inc Mgt) INC13452553: DSL_INT_CAP_AMT Field Incorrect in t_edw4.BNK_LOAN_ACCT_DLY_SNP for Reversed Int Cap Trans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(Bank 322 - DSL Enh)  Develop &amp; Test Finacle &amp; Hadoop Phase 3(need to be split between 3a/3b)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[ Bank 304 - Inc Mgt  ] INC13196228 SDM ""Unknown"" Loan Status Issue.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(Bank 356 -INC mgt) INC11029740 Add fields to teradata to capture loan adjustment transactions that are currently not captured.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[Continued] (Bank 356 - Inc Mgt)- INC9457764: Incorrect Historical Interest Capitalized Amounts for DIPLOMA Loans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(Bank 356 - </a:t>
                      </a:r>
                      <a:r>
                        <a:rPr lang="en-US" sz="1100" u="none" strike="noStrike" dirty="0" err="1">
                          <a:effectLst/>
                        </a:rPr>
                        <a:t>Inc</a:t>
                      </a:r>
                      <a:r>
                        <a:rPr lang="en-US" sz="1100" u="none" strike="noStrike" dirty="0">
                          <a:effectLst/>
                        </a:rPr>
                        <a:t> </a:t>
                      </a:r>
                      <a:r>
                        <a:rPr lang="en-US" sz="1100" u="none" strike="noStrike" dirty="0" err="1">
                          <a:effectLst/>
                        </a:rPr>
                        <a:t>Mgt</a:t>
                      </a:r>
                      <a:r>
                        <a:rPr lang="en-US" sz="1100" u="none" strike="noStrike" dirty="0">
                          <a:effectLst/>
                        </a:rPr>
                        <a:t>) INC11028280: LTD Payment Count Discrepancy is Created for Great Lakes Loans as Part of the February 2018 Migration to </a:t>
                      </a:r>
                      <a:r>
                        <a:rPr lang="en-US" sz="1100" u="none" strike="noStrike" dirty="0" err="1">
                          <a:effectLst/>
                        </a:rPr>
                        <a:t>Finacle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9212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DSL Team Work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58141" y="791850"/>
            <a:ext cx="9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Work In Backlog 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017640"/>
              </p:ext>
            </p:extLst>
          </p:nvPr>
        </p:nvGraphicFramePr>
        <p:xfrm>
          <a:off x="1269976" y="1256875"/>
          <a:ext cx="8777794" cy="5356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8872"/>
                <a:gridCol w="1998922"/>
              </a:tblGrid>
              <a:tr h="2083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Project 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Schedule State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65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356 -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Spike INC10657935: SDM Shift of Disbursement Refund to Payment Amounts at the time of Migration from Great Lakes to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Finacle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65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356 - Inc Mgt) INC11028362: Paid Total Amount Incorrect for Great Lakes Prior to Finacle migration in Feb 2018 and for First Reporting Month in Finacle SDM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356 - INC Mgt) INC11029740 Update SDM Data Definitions Based on Business Clarification and Existing Logic --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356 - Inc Mgt) INC12103865 - ORIG_ Immediate Repay &amp; Pay Type from Finacle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356 - Inc Mgt) INC13511867: Data loading missing in V_CLB_CAPSTONE_DSL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322 - DSL Enh) Initiated Application Data collection and storage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Bank 272 ""DSL: Increase Finacle Batch Process to 6 Days a Week""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- 356 - Inc Mgt) INC13531064: Loans mismatches in J2_addr1 , J2_Zip ,  Addr_1 fields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(Bank-325) Hadoop Decommissioning AWS Migration (Bank Ops - DSL)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325) AWS job monitoring for DSL applications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281 DSL- RHEL): RHEL Finacle banking platform from AIX (old platform) to a new version of Red hat Linux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(Tech Debt - Bank 344)[Continued] DFTP: ETL changes for dated triggers (Coding, Install)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356 - Inc Mgt) CHG0841364/INC12817220: Physical deletes for table TBAADM_LTD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344 -Tech Debt ): S_BTGRP database batch jobs (Spike)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356 -DSL Inc mg) Finacle Oracle Parameter Change Testing for Performance test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(Tech Debt - Bank 344)Decommission of Mobius servers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(Bank-159) DSL: S_DPL migration for DSL and DPL data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322- Dsl Enhc )TBAADM_GAM Stage load fails if there are records with bnk_acct_key as -9.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356 - Inc Mgt INC12819825: 20181019 DSL data not update in V_CLB_BASIC.BNK_LOAN_ACCT_DLY_SNP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(Tech Debt - Bank 344) s_bas.deathmaster Table Updates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(Tech Debt - Bank 344) Retire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s_bas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tables &amp; creation of new tables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356 - Inc Mgt) INC13622913: Mini Master with wrong value for the month of April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83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(Bank 356 -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INC13258566 : Need assistance for SLNR_POP_FNCL_DSL_METRO2_OFF_EXCEP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7207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Deposits Team Work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58140" y="887543"/>
            <a:ext cx="9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Work In Progress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517940"/>
              </p:ext>
            </p:extLst>
          </p:nvPr>
        </p:nvGraphicFramePr>
        <p:xfrm>
          <a:off x="1111494" y="1360963"/>
          <a:ext cx="8245157" cy="50144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96174"/>
                <a:gridCol w="3148983"/>
              </a:tblGrid>
              <a:tr h="1999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Name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Schedule</a:t>
                      </a:r>
                      <a:r>
                        <a:rPr lang="en-US" sz="9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Chex System development require EDS support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Upstream change impacts to </a:t>
                      </a:r>
                      <a:r>
                        <a:rPr lang="en-US" sz="9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odsh</a:t>
                      </a:r>
                      <a:r>
                        <a:rPr lang="en-US" sz="9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9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app_dmp</a:t>
                      </a:r>
                      <a:r>
                        <a:rPr lang="en-US" sz="9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application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Zelle (ZXF) file to EWS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Research spike - Finacle &amp; Hadoop Data Sync up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Finacle 6 day batch process analysis (part 3 of 3)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516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INC13524701 - v_clb_basic.bnk_acct_cntr_cust_reg has blank bank customer number records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Net Value - FTP Process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5498 Tax Form Generation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Update FODS server to NAXP271 for Edcbw_cust_reg_delta*.ods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Decommission/Cleanup Deposit-S_BAS Tables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Atlas Notes to Teradata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Fields to BNK_DPS_APLN_RLTM_INFO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Fields to BNK_DPST_CUST_REAL_TM_INFO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Blaze : ANF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Knowledge Transfer to CJ team from offshore resources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Negative List - Batch Process: Send the file to the Finacle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Teradata to AWS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ANF - Holiday Table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Blaze Fix2: Productionalize Output Tables - DUPLICATE DELETE SEE 107546)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Blaze Fix2: Production  install  - Proc date 4/26 - DELETE SEE US107723)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Protegrity for Multi-Batch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Production support activities  Q1 2019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Production support activities  Q2 2019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97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ANF - Phase II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62" marR="4562" marT="456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684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5CB1512-A29E-44CF-8686-4601243EA1F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Deposits Team Work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58140" y="887543"/>
            <a:ext cx="9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Work In Backlog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725229"/>
              </p:ext>
            </p:extLst>
          </p:nvPr>
        </p:nvGraphicFramePr>
        <p:xfrm>
          <a:off x="1090228" y="1339694"/>
          <a:ext cx="4576925" cy="5310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314"/>
                <a:gridCol w="645611"/>
              </a:tblGrid>
              <a:tr h="2296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Name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Schedule State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60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Update Time Stamp information for file </a:t>
                      </a:r>
                      <a:r>
                        <a:rPr lang="en-US" sz="9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Ed_bilpayhist_checkfree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47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INC13659579 - Mismatches on account number between Compass and    V_CLB_BASIC.CSEG_FND_TRF_TRN_HS table.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60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Debit Card Number Tokenization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60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EDS team changes to start using PEP+ extract files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60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Net Value - History Table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60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Critical Deposit EDW Tables Timeliness Improvement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60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Technical Debt: RI Warnings - review/investigate recurring RI warnings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60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FODS Full extracts decommission request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60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Campaign Data Enhancements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47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source code status name column to VC_BNK_AFFINIUM custom view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60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Teradata to AWS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60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missing data in v_clb_basic.BNK_DPST_APLN_ID_CHK table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60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Technical debt: Summary table query optimizations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60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DQ checks improvement for key deposits EDW tables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47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INC10959738 - Application fix for ODSH_POP_CBW_PRV_*. (Need Assistance)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47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Deposit Product analytst want to have deposit customers citizenship and other demographic data to be available in EDW production.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60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Teller Transaction Report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960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daily snapshot tables in Hadoop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309392"/>
              </p:ext>
            </p:extLst>
          </p:nvPr>
        </p:nvGraphicFramePr>
        <p:xfrm>
          <a:off x="6144238" y="1339694"/>
          <a:ext cx="5615372" cy="5371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23280"/>
                <a:gridCol w="792092"/>
              </a:tblGrid>
              <a:tr h="2163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Name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Schedule State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 Office BPM: Migrate Data to Teradata (Almanac)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Technical Debt: BNK_ACCT_TRAN temp error table issue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INC12674486: TM and TRAN- Non Checking Accounts with ) APR rate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bnk_tran_acct - ic_interest_related_dtl balance vs acct_eod_balance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3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INC12686081 - Undated trigger received from source team for job ODSH_POP_CHECKFREE_PAYHIST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32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OCDTL job - analyze to determine if source file should be a feed in to ext_bnk_acct_key process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Net Value - FTP Process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Net Value - History Table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Deposits: RHEL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Documentum Data Phase II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Migration of Negative List into production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view for fraud_accounts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Migration of S_bnkfrd.Calypso Tables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Catalog Experian Data to EDS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Fields - TMX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Vantiv - ISO message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Vantiv - SAS Activity - Settlement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Batch SkipTrace - Innovis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Batch  Skiptrace - Orion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Batch </a:t>
                      </a:r>
                      <a:r>
                        <a:rPr lang="en-US" sz="9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Skiptrace</a:t>
                      </a:r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sz="9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Emailage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Centralized Repository : Table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30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Cust_Agmt</a:t>
                      </a:r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Batch to Real Time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720" marR="2720" marT="27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7432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Graphic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N_Technology_Master_Template_Graphik_04_2017 v2.potx" id="{C7FE18B4-AD0C-4879-82E2-42D7F8AC65AD}" vid="{C855B150-8A9D-4D2B-9132-6CBE49CB6C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D806EB9-D17E-1E45-8D70-FFC176409821}" vid="{D0248052-32CE-8B4A-BB39-11CA7425F30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D806EB9-D17E-1E45-8D70-FFC176409821}" vid="{D0248052-32CE-8B4A-BB39-11CA7425F3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D806EB9-D17E-1E45-8D70-FFC176409821}" vid="{D0248052-32CE-8B4A-BB39-11CA7425F30A}"/>
    </a:ext>
  </a:extLst>
</a:theme>
</file>

<file path=ppt/theme/theme5.xml><?xml version="1.0" encoding="utf-8"?>
<a:theme xmlns:a="http://schemas.openxmlformats.org/drawingml/2006/main" name="1_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0A93B61A-D5CB-4DDA-AA86-286514324FB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E71E78D24A2744A0473CE94B3B956F" ma:contentTypeVersion="4" ma:contentTypeDescription="Create a new document." ma:contentTypeScope="" ma:versionID="895cca511dd7034b97d594726951d94c">
  <xsd:schema xmlns:xsd="http://www.w3.org/2001/XMLSchema" xmlns:xs="http://www.w3.org/2001/XMLSchema" xmlns:p="http://schemas.microsoft.com/office/2006/metadata/properties" xmlns:ns2="6d6de540-97a7-427b-9365-ec0ac95cac9d" targetNamespace="http://schemas.microsoft.com/office/2006/metadata/properties" ma:root="true" ma:fieldsID="6a189a7404eeb6bdc04199086eb218ff" ns2:_="">
    <xsd:import namespace="6d6de540-97a7-427b-9365-ec0ac95ca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6de540-97a7-427b-9365-ec0ac95ca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10D7F87-643C-45A5-A0C8-300A2A333A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C6B4D6-8DA0-45BC-BC2A-B0268ED48D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6de540-97a7-427b-9365-ec0ac95cac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BB8A81-5F09-46EE-82F9-EBBFEDF99057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6d6de540-97a7-427b-9365-ec0ac95cac9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18038</TotalTime>
  <Words>5533</Words>
  <Application>Microsoft Office PowerPoint</Application>
  <PresentationFormat>Widescreen</PresentationFormat>
  <Paragraphs>1117</Paragraphs>
  <Slides>31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8" baseType="lpstr">
      <vt:lpstr>Arial</vt:lpstr>
      <vt:lpstr>Arial Black</vt:lpstr>
      <vt:lpstr>Calibri</vt:lpstr>
      <vt:lpstr>Futura Medium</vt:lpstr>
      <vt:lpstr>Graphik</vt:lpstr>
      <vt:lpstr>Graphik Black</vt:lpstr>
      <vt:lpstr>Meta Offc Pro Medium</vt:lpstr>
      <vt:lpstr>Meta Offc Pro Normal</vt:lpstr>
      <vt:lpstr>Meta Offc Pro Thin</vt:lpstr>
      <vt:lpstr>Roboto</vt:lpstr>
      <vt:lpstr>Wingdings</vt:lpstr>
      <vt:lpstr>Content Layouts</vt:lpstr>
      <vt:lpstr>Office Theme</vt:lpstr>
      <vt:lpstr>1_Office Theme</vt:lpstr>
      <vt:lpstr>2_Office Theme</vt:lpstr>
      <vt:lpstr>1_Content Layouts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Guidash, Ian</dc:creator>
  <cp:lastModifiedBy>Kimberly Uzzardo</cp:lastModifiedBy>
  <cp:revision>255</cp:revision>
  <cp:lastPrinted>2019-05-20T16:45:10Z</cp:lastPrinted>
  <dcterms:created xsi:type="dcterms:W3CDTF">2019-03-04T19:17:06Z</dcterms:created>
  <dcterms:modified xsi:type="dcterms:W3CDTF">2019-05-28T22:48:07Z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0x01010094E71E78D24A2744A0473CE94B3B956F</vt:lpwstr>
  </property>
</Properties>
</file>